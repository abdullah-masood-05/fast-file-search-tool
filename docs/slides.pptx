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  <p:sldMasterId id="2147483650" r:id="rId2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4630400" cy="8229600"/>
  <p:notesSz cx="8229600" cy="146304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52" d="100"/>
          <a:sy n="52" d="100"/>
        </p:scale>
        <p:origin x="88" y="76"/>
      </p:cViewPr>
      <p:guideLst>
        <p:guide pos="4608"/>
        <p:guide pos="2592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5080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243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2923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549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979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462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644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4248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9005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3153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73084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1539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3256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6755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926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2673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0190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7411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276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2164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9578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760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0488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441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344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17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5383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02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7928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4378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13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2810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1508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1575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3986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259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899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2406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8915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863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6459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958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108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3325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9589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563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4656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6129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8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4426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498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789893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1799956261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984290549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428471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1375644706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72457570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pattFill prst="sphere">
          <a:fgClr>
            <a:srgbClr val="F9F6F0"/>
          </a:fgClr>
          <a:bgClr>
            <a:schemeClr val="bg1"/>
          </a:bgClr>
        </a:patt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pattFill prst="solidDmnd">
          <a:fgClr>
            <a:srgbClr val="F9F6F0"/>
          </a:fgClr>
          <a:bgClr>
            <a:schemeClr val="bg1"/>
          </a:bgClr>
        </a:patt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media1.svg"/><Relationship Id="rId5" Type="http://schemas.openxmlformats.org/officeDocument/2006/relationships/image" Target="../media/image4.png"/><Relationship Id="rId6" Type="http://schemas.openxmlformats.org/officeDocument/2006/relationships/image" Target="../media/media2.svg"/><Relationship Id="rId7" Type="http://schemas.openxmlformats.org/officeDocument/2006/relationships/image" Target="../media/image5.png"/><Relationship Id="rId8" Type="http://schemas.openxmlformats.org/officeDocument/2006/relationships/image" Target="../media/media3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EbadJunaid/Fast-file-search-tool" TargetMode="External"/><Relationship Id="rId4" Type="http://schemas.openxmlformats.org/officeDocument/2006/relationships/hyperlink" Target="https://drive.google.com/drive/folders/1TwvQ0oXWFnkvZXPAOkPVbjp8jbGAwLgu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348347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60134402" name="Text 0"/>
          <p:cNvSpPr/>
          <p:nvPr/>
        </p:nvSpPr>
        <p:spPr bwMode="auto">
          <a:xfrm>
            <a:off x="7074456" y="3408878"/>
            <a:ext cx="59677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 Fast File Search Tool</a:t>
            </a:r>
            <a:endParaRPr lang="en-US" sz="4450"/>
          </a:p>
        </p:txBody>
      </p:sp>
      <p:sp>
        <p:nvSpPr>
          <p:cNvPr id="1343482228" name="Text 1"/>
          <p:cNvSpPr/>
          <p:nvPr/>
        </p:nvSpPr>
        <p:spPr bwMode="auto"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Subtitle: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High-Performance Information Retrieval for Desktop Systems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856153" name="Text 0"/>
          <p:cNvSpPr/>
          <p:nvPr/>
        </p:nvSpPr>
        <p:spPr bwMode="auto">
          <a:xfrm>
            <a:off x="793790" y="1866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endParaRPr lang="en-US" sz="2200"/>
          </a:p>
        </p:txBody>
      </p:sp>
      <p:sp>
        <p:nvSpPr>
          <p:cNvPr id="1264315364" name="Shape 1"/>
          <p:cNvSpPr/>
          <p:nvPr/>
        </p:nvSpPr>
        <p:spPr bwMode="auto">
          <a:xfrm>
            <a:off x="793790" y="2674501"/>
            <a:ext cx="6407943" cy="1367909"/>
          </a:xfrm>
          <a:prstGeom prst="roundRect">
            <a:avLst>
              <a:gd name="adj" fmla="val 10695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913320114" name="Shape 2"/>
          <p:cNvSpPr/>
          <p:nvPr/>
        </p:nvSpPr>
        <p:spPr bwMode="auto">
          <a:xfrm>
            <a:off x="763310" y="2674501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91775546" name="Text 3"/>
          <p:cNvSpPr/>
          <p:nvPr/>
        </p:nvSpPr>
        <p:spPr bwMode="auto">
          <a:xfrm>
            <a:off x="1142524" y="29317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Project Name</a:t>
            </a:r>
            <a:endParaRPr lang="en-US" sz="2200"/>
          </a:p>
        </p:txBody>
      </p:sp>
      <p:sp>
        <p:nvSpPr>
          <p:cNvPr id="1898726342" name="Text 4"/>
          <p:cNvSpPr/>
          <p:nvPr/>
        </p:nvSpPr>
        <p:spPr bwMode="auto">
          <a:xfrm>
            <a:off x="1142524" y="342221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Fast File Search Tool</a:t>
            </a:r>
            <a:endParaRPr lang="en-US" sz="1750"/>
          </a:p>
        </p:txBody>
      </p:sp>
      <p:sp>
        <p:nvSpPr>
          <p:cNvPr id="389557520" name="Shape 5"/>
          <p:cNvSpPr/>
          <p:nvPr/>
        </p:nvSpPr>
        <p:spPr bwMode="auto">
          <a:xfrm>
            <a:off x="7428548" y="2674501"/>
            <a:ext cx="6408062" cy="1367909"/>
          </a:xfrm>
          <a:prstGeom prst="roundRect">
            <a:avLst>
              <a:gd name="adj" fmla="val 10695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288216743" name="Shape 6"/>
          <p:cNvSpPr/>
          <p:nvPr/>
        </p:nvSpPr>
        <p:spPr bwMode="auto">
          <a:xfrm>
            <a:off x="7398067" y="2674501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240078533" name="Text 7"/>
          <p:cNvSpPr/>
          <p:nvPr/>
        </p:nvSpPr>
        <p:spPr bwMode="auto">
          <a:xfrm>
            <a:off x="7777282" y="29317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Subject</a:t>
            </a:r>
            <a:endParaRPr lang="en-US" sz="2200"/>
          </a:p>
        </p:txBody>
      </p:sp>
      <p:sp>
        <p:nvSpPr>
          <p:cNvPr id="538804028" name="Text 8"/>
          <p:cNvSpPr/>
          <p:nvPr/>
        </p:nvSpPr>
        <p:spPr bwMode="auto">
          <a:xfrm>
            <a:off x="7777282" y="342221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Information Retrieval &amp; Text Mining</a:t>
            </a:r>
            <a:endParaRPr lang="en-US" sz="1750"/>
          </a:p>
        </p:txBody>
      </p:sp>
      <p:sp>
        <p:nvSpPr>
          <p:cNvPr id="890212352" name="Shape 9"/>
          <p:cNvSpPr/>
          <p:nvPr/>
        </p:nvSpPr>
        <p:spPr bwMode="auto">
          <a:xfrm>
            <a:off x="793790" y="4269224"/>
            <a:ext cx="6407943" cy="2093714"/>
          </a:xfrm>
          <a:prstGeom prst="roundRect">
            <a:avLst>
              <a:gd name="adj" fmla="val 6988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924432851" name="Shape 10"/>
          <p:cNvSpPr/>
          <p:nvPr/>
        </p:nvSpPr>
        <p:spPr bwMode="auto">
          <a:xfrm>
            <a:off x="763310" y="4269224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349951151" name="Text 11"/>
          <p:cNvSpPr/>
          <p:nvPr/>
        </p:nvSpPr>
        <p:spPr bwMode="auto">
          <a:xfrm>
            <a:off x="1142524" y="45265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Team</a:t>
            </a:r>
            <a:endParaRPr lang="en-US" sz="2200"/>
          </a:p>
        </p:txBody>
      </p:sp>
      <p:sp>
        <p:nvSpPr>
          <p:cNvPr id="2057518629" name="Text 12"/>
          <p:cNvSpPr/>
          <p:nvPr/>
        </p:nvSpPr>
        <p:spPr bwMode="auto">
          <a:xfrm>
            <a:off x="1142524" y="5016937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Ebad Junaid(BSCS22046), Muhammad Shahzaib Hafeez(BSCS22104), Afaq Buzdaar(BSCS22080), Muhammad Yasir Zahid(BSCS22102)</a:t>
            </a:r>
            <a:endParaRPr lang="en-US" sz="1750"/>
          </a:p>
        </p:txBody>
      </p:sp>
      <p:sp>
        <p:nvSpPr>
          <p:cNvPr id="1355258968" name="Shape 13"/>
          <p:cNvSpPr/>
          <p:nvPr/>
        </p:nvSpPr>
        <p:spPr bwMode="auto">
          <a:xfrm>
            <a:off x="7428548" y="4269224"/>
            <a:ext cx="6408062" cy="2093714"/>
          </a:xfrm>
          <a:prstGeom prst="roundRect">
            <a:avLst>
              <a:gd name="adj" fmla="val 6988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879084086" name="Shape 14"/>
          <p:cNvSpPr/>
          <p:nvPr/>
        </p:nvSpPr>
        <p:spPr bwMode="auto">
          <a:xfrm>
            <a:off x="7398067" y="4269224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825745713" name="Text 15"/>
          <p:cNvSpPr/>
          <p:nvPr/>
        </p:nvSpPr>
        <p:spPr bwMode="auto">
          <a:xfrm>
            <a:off x="7777282" y="45265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Tagline</a:t>
            </a:r>
            <a:endParaRPr lang="en-US" sz="2200"/>
          </a:p>
        </p:txBody>
      </p:sp>
      <p:sp>
        <p:nvSpPr>
          <p:cNvPr id="593778223" name="Text 16"/>
          <p:cNvSpPr/>
          <p:nvPr/>
        </p:nvSpPr>
        <p:spPr bwMode="auto">
          <a:xfrm>
            <a:off x="7777282" y="501693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"Bringing Search Engine speeds to the Desktop File System."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33249" name="Text 0"/>
          <p:cNvSpPr/>
          <p:nvPr/>
        </p:nvSpPr>
        <p:spPr bwMode="auto">
          <a:xfrm>
            <a:off x="793790" y="1583888"/>
            <a:ext cx="33010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The Problem Statement</a:t>
            </a:r>
            <a:endParaRPr lang="en-US" sz="2200"/>
          </a:p>
        </p:txBody>
      </p:sp>
      <p:sp>
        <p:nvSpPr>
          <p:cNvPr id="982982041" name="Text 1"/>
          <p:cNvSpPr/>
          <p:nvPr/>
        </p:nvSpPr>
        <p:spPr bwMode="auto">
          <a:xfrm>
            <a:off x="793790" y="202894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The Issue:</a:t>
            </a:r>
            <a:endParaRPr lang="en-US" sz="2650"/>
          </a:p>
        </p:txBody>
      </p:sp>
      <p:sp>
        <p:nvSpPr>
          <p:cNvPr id="354924669" name="Shape 2"/>
          <p:cNvSpPr/>
          <p:nvPr/>
        </p:nvSpPr>
        <p:spPr bwMode="auto">
          <a:xfrm>
            <a:off x="793790" y="27943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2142657368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878860" y="2879408"/>
            <a:ext cx="340162" cy="340162"/>
          </a:xfrm>
          <a:prstGeom prst="rect">
            <a:avLst/>
          </a:prstGeom>
        </p:spPr>
      </p:pic>
      <p:sp>
        <p:nvSpPr>
          <p:cNvPr id="222251051" name="Text 3"/>
          <p:cNvSpPr/>
          <p:nvPr/>
        </p:nvSpPr>
        <p:spPr bwMode="auto">
          <a:xfrm>
            <a:off x="1530906" y="2872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Slow Native Search</a:t>
            </a:r>
            <a:endParaRPr lang="en-US" sz="2200"/>
          </a:p>
        </p:txBody>
      </p:sp>
      <p:sp>
        <p:nvSpPr>
          <p:cNvPr id="395027036" name="Text 4"/>
          <p:cNvSpPr/>
          <p:nvPr/>
        </p:nvSpPr>
        <p:spPr bwMode="auto">
          <a:xfrm>
            <a:off x="1530906" y="3362682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Standard OS tools (Windows Explorer, macOS Spotlight) can be sluggish or resource-heavy when scanning large directories.</a:t>
            </a:r>
            <a:endParaRPr lang="en-US" sz="1750"/>
          </a:p>
        </p:txBody>
      </p:sp>
      <p:sp>
        <p:nvSpPr>
          <p:cNvPr id="1971995293" name="Shape 5"/>
          <p:cNvSpPr/>
          <p:nvPr/>
        </p:nvSpPr>
        <p:spPr bwMode="auto">
          <a:xfrm>
            <a:off x="5235893" y="27943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1359104327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5320962" y="2879408"/>
            <a:ext cx="340162" cy="340162"/>
          </a:xfrm>
          <a:prstGeom prst="rect">
            <a:avLst/>
          </a:prstGeom>
        </p:spPr>
      </p:pic>
      <p:sp>
        <p:nvSpPr>
          <p:cNvPr id="1064849377" name="Text 6"/>
          <p:cNvSpPr/>
          <p:nvPr/>
        </p:nvSpPr>
        <p:spPr bwMode="auto">
          <a:xfrm>
            <a:off x="5973008" y="2872264"/>
            <a:ext cx="28529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Blocking Operations</a:t>
            </a:r>
            <a:endParaRPr lang="en-US" sz="2200"/>
          </a:p>
        </p:txBody>
      </p:sp>
      <p:sp>
        <p:nvSpPr>
          <p:cNvPr id="30052250" name="Text 7"/>
          <p:cNvSpPr/>
          <p:nvPr/>
        </p:nvSpPr>
        <p:spPr bwMode="auto">
          <a:xfrm>
            <a:off x="5973008" y="3362682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Most simple scripts use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Linear Search ($O(N)$)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, scanning files one by one. This causes the "Application Not Responding" freeze on large datasets.</a:t>
            </a:r>
            <a:endParaRPr lang="en-US" sz="1750"/>
          </a:p>
        </p:txBody>
      </p:sp>
      <p:sp>
        <p:nvSpPr>
          <p:cNvPr id="1201889152" name="Shape 8"/>
          <p:cNvSpPr/>
          <p:nvPr/>
        </p:nvSpPr>
        <p:spPr bwMode="auto">
          <a:xfrm>
            <a:off x="9677994" y="27943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pic>
        <p:nvPicPr>
          <p:cNvPr id="1389512211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9763065" y="2879408"/>
            <a:ext cx="340162" cy="340162"/>
          </a:xfrm>
          <a:prstGeom prst="rect">
            <a:avLst/>
          </a:prstGeom>
        </p:spPr>
      </p:pic>
      <p:sp>
        <p:nvSpPr>
          <p:cNvPr id="1968636726" name="Text 9"/>
          <p:cNvSpPr/>
          <p:nvPr/>
        </p:nvSpPr>
        <p:spPr bwMode="auto">
          <a:xfrm>
            <a:off x="10415111" y="2872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Lack of Control</a:t>
            </a:r>
            <a:endParaRPr lang="en-US" sz="2200"/>
          </a:p>
        </p:txBody>
      </p:sp>
      <p:sp>
        <p:nvSpPr>
          <p:cNvPr id="544306899" name="Text 10"/>
          <p:cNvSpPr/>
          <p:nvPr/>
        </p:nvSpPr>
        <p:spPr bwMode="auto">
          <a:xfrm>
            <a:off x="10415111" y="3362682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Existing tools are often closed-source or platform-specific (e.g., "Everything" is Windows-only).</a:t>
            </a:r>
            <a:endParaRPr lang="en-US" sz="1750"/>
          </a:p>
        </p:txBody>
      </p:sp>
      <p:sp>
        <p:nvSpPr>
          <p:cNvPr id="1682324572" name="Text 11"/>
          <p:cNvSpPr/>
          <p:nvPr/>
        </p:nvSpPr>
        <p:spPr bwMode="auto">
          <a:xfrm>
            <a:off x="793790" y="551735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The Goal:</a:t>
            </a:r>
            <a:endParaRPr lang="en-US" sz="2650"/>
          </a:p>
        </p:txBody>
      </p:sp>
      <p:sp>
        <p:nvSpPr>
          <p:cNvPr id="1609193025" name="Text 12"/>
          <p:cNvSpPr/>
          <p:nvPr/>
        </p:nvSpPr>
        <p:spPr bwMode="auto">
          <a:xfrm>
            <a:off x="793790" y="62828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Build a cross-platform tool that indexes 100,000+ files instantly and allows for real-time, non-blocking search.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99870" name="Text 0"/>
          <p:cNvSpPr/>
          <p:nvPr/>
        </p:nvSpPr>
        <p:spPr bwMode="auto">
          <a:xfrm>
            <a:off x="793790" y="17153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Project Objectives</a:t>
            </a:r>
            <a:endParaRPr lang="en-US" sz="2200"/>
          </a:p>
        </p:txBody>
      </p:sp>
      <p:sp>
        <p:nvSpPr>
          <p:cNvPr id="1729467301" name="Shape 1"/>
          <p:cNvSpPr/>
          <p:nvPr/>
        </p:nvSpPr>
        <p:spPr bwMode="auto">
          <a:xfrm>
            <a:off x="793790" y="2863453"/>
            <a:ext cx="4196358" cy="3650694"/>
          </a:xfrm>
          <a:prstGeom prst="roundRect">
            <a:avLst>
              <a:gd name="adj" fmla="val 4008"/>
            </a:avLst>
          </a:prstGeom>
          <a:solidFill>
            <a:srgbClr val="F9F6F0"/>
          </a:solidFill>
          <a:ln/>
        </p:spPr>
      </p:sp>
      <p:sp>
        <p:nvSpPr>
          <p:cNvPr id="94029540" name="Shape 2"/>
          <p:cNvSpPr/>
          <p:nvPr/>
        </p:nvSpPr>
        <p:spPr bwMode="auto">
          <a:xfrm>
            <a:off x="793790" y="2832973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950087673" name="Shape 3"/>
          <p:cNvSpPr/>
          <p:nvPr/>
        </p:nvSpPr>
        <p:spPr bwMode="auto">
          <a:xfrm>
            <a:off x="2551687" y="2523292"/>
            <a:ext cx="680441" cy="680441"/>
          </a:xfrm>
          <a:prstGeom prst="roundRect">
            <a:avLst>
              <a:gd name="adj" fmla="val 134383"/>
            </a:avLst>
          </a:prstGeom>
          <a:solidFill>
            <a:srgbClr val="D3C5B6"/>
          </a:solidFill>
          <a:ln/>
        </p:spPr>
      </p:sp>
      <p:sp>
        <p:nvSpPr>
          <p:cNvPr id="1830638147" name="Text 4"/>
          <p:cNvSpPr/>
          <p:nvPr/>
        </p:nvSpPr>
        <p:spPr bwMode="auto">
          <a:xfrm>
            <a:off x="2755761" y="269343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  <a:defRPr/>
            </a:pPr>
            <a:r>
              <a:rPr lang="en-US" sz="2100">
                <a:solidFill>
                  <a:srgbClr val="000000"/>
                </a:solidFill>
                <a:latin typeface="Gelasio Semi Bold"/>
                <a:ea typeface="Gelasio Semi Bold"/>
                <a:cs typeface="Gelasio Semi Bold"/>
              </a:rPr>
              <a:t>1</a:t>
            </a:r>
            <a:endParaRPr lang="en-US" sz="2100"/>
          </a:p>
        </p:txBody>
      </p:sp>
      <p:sp>
        <p:nvSpPr>
          <p:cNvPr id="2072409675" name="Text 5"/>
          <p:cNvSpPr/>
          <p:nvPr/>
        </p:nvSpPr>
        <p:spPr bwMode="auto">
          <a:xfrm>
            <a:off x="1051084" y="34304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Performance</a:t>
            </a:r>
            <a:endParaRPr lang="en-US" sz="2200"/>
          </a:p>
        </p:txBody>
      </p:sp>
      <p:sp>
        <p:nvSpPr>
          <p:cNvPr id="514379375" name="Text 6"/>
          <p:cNvSpPr/>
          <p:nvPr/>
        </p:nvSpPr>
        <p:spPr bwMode="auto">
          <a:xfrm>
            <a:off x="1051084" y="392084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Index 100,000+ files in under 7 seconds.</a:t>
            </a:r>
            <a:endParaRPr lang="en-US" sz="1750"/>
          </a:p>
        </p:txBody>
      </p:sp>
      <p:sp>
        <p:nvSpPr>
          <p:cNvPr id="1782476109" name="Text 7"/>
          <p:cNvSpPr/>
          <p:nvPr/>
        </p:nvSpPr>
        <p:spPr bwMode="auto">
          <a:xfrm>
            <a:off x="1051084" y="472594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Return search results in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&lt; 100 milliseconds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(Real-time).</a:t>
            </a:r>
            <a:endParaRPr lang="en-US" sz="1750"/>
          </a:p>
        </p:txBody>
      </p:sp>
      <p:sp>
        <p:nvSpPr>
          <p:cNvPr id="384602031" name="Shape 8"/>
          <p:cNvSpPr/>
          <p:nvPr/>
        </p:nvSpPr>
        <p:spPr bwMode="auto">
          <a:xfrm>
            <a:off x="5216962" y="2863453"/>
            <a:ext cx="4196358" cy="3650694"/>
          </a:xfrm>
          <a:prstGeom prst="roundRect">
            <a:avLst>
              <a:gd name="adj" fmla="val 4008"/>
            </a:avLst>
          </a:prstGeom>
          <a:solidFill>
            <a:srgbClr val="F9F6F0"/>
          </a:solidFill>
          <a:ln/>
        </p:spPr>
      </p:sp>
      <p:sp>
        <p:nvSpPr>
          <p:cNvPr id="33872946" name="Shape 9"/>
          <p:cNvSpPr/>
          <p:nvPr/>
        </p:nvSpPr>
        <p:spPr bwMode="auto">
          <a:xfrm>
            <a:off x="5216962" y="2832973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346208532" name="Shape 10"/>
          <p:cNvSpPr/>
          <p:nvPr/>
        </p:nvSpPr>
        <p:spPr bwMode="auto">
          <a:xfrm>
            <a:off x="6974860" y="2523292"/>
            <a:ext cx="680441" cy="680441"/>
          </a:xfrm>
          <a:prstGeom prst="roundRect">
            <a:avLst>
              <a:gd name="adj" fmla="val 134383"/>
            </a:avLst>
          </a:prstGeom>
          <a:solidFill>
            <a:srgbClr val="D3C5B6"/>
          </a:solidFill>
          <a:ln/>
        </p:spPr>
      </p:sp>
      <p:sp>
        <p:nvSpPr>
          <p:cNvPr id="1451192302" name="Text 11"/>
          <p:cNvSpPr/>
          <p:nvPr/>
        </p:nvSpPr>
        <p:spPr bwMode="auto">
          <a:xfrm>
            <a:off x="7178933" y="269343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  <a:defRPr/>
            </a:pPr>
            <a:r>
              <a:rPr lang="en-US" sz="2100">
                <a:solidFill>
                  <a:srgbClr val="000000"/>
                </a:solidFill>
                <a:latin typeface="Gelasio Semi Bold"/>
                <a:ea typeface="Gelasio Semi Bold"/>
                <a:cs typeface="Gelasio Semi Bold"/>
              </a:rPr>
              <a:t>2</a:t>
            </a:r>
            <a:endParaRPr lang="en-US" sz="2100"/>
          </a:p>
        </p:txBody>
      </p:sp>
      <p:sp>
        <p:nvSpPr>
          <p:cNvPr id="1165579852" name="Text 12"/>
          <p:cNvSpPr/>
          <p:nvPr/>
        </p:nvSpPr>
        <p:spPr bwMode="auto">
          <a:xfrm>
            <a:off x="5474256" y="34304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Technique</a:t>
            </a:r>
            <a:endParaRPr lang="en-US" sz="2200"/>
          </a:p>
        </p:txBody>
      </p:sp>
      <p:sp>
        <p:nvSpPr>
          <p:cNvPr id="463669554" name="Text 13"/>
          <p:cNvSpPr/>
          <p:nvPr/>
        </p:nvSpPr>
        <p:spPr bwMode="auto">
          <a:xfrm>
            <a:off x="5474256" y="3920847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Apply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Information Retrieval (IR)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concepts (Inverted Indexing) to file systems, moving away from brute-force scanning.</a:t>
            </a:r>
            <a:endParaRPr lang="en-US" sz="1750"/>
          </a:p>
        </p:txBody>
      </p:sp>
      <p:sp>
        <p:nvSpPr>
          <p:cNvPr id="1736967688" name="Shape 14"/>
          <p:cNvSpPr/>
          <p:nvPr/>
        </p:nvSpPr>
        <p:spPr bwMode="auto">
          <a:xfrm>
            <a:off x="9640133" y="2863453"/>
            <a:ext cx="4196358" cy="3650694"/>
          </a:xfrm>
          <a:prstGeom prst="roundRect">
            <a:avLst>
              <a:gd name="adj" fmla="val 4008"/>
            </a:avLst>
          </a:prstGeom>
          <a:solidFill>
            <a:srgbClr val="F9F6F0"/>
          </a:solidFill>
          <a:ln/>
        </p:spPr>
      </p:sp>
      <p:sp>
        <p:nvSpPr>
          <p:cNvPr id="3439955" name="Shape 15"/>
          <p:cNvSpPr/>
          <p:nvPr/>
        </p:nvSpPr>
        <p:spPr bwMode="auto">
          <a:xfrm>
            <a:off x="9640133" y="2832973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2123430025" name="Shape 16"/>
          <p:cNvSpPr/>
          <p:nvPr/>
        </p:nvSpPr>
        <p:spPr bwMode="auto">
          <a:xfrm>
            <a:off x="11398032" y="2523292"/>
            <a:ext cx="680441" cy="680441"/>
          </a:xfrm>
          <a:prstGeom prst="roundRect">
            <a:avLst>
              <a:gd name="adj" fmla="val 134383"/>
            </a:avLst>
          </a:prstGeom>
          <a:solidFill>
            <a:srgbClr val="D3C5B6"/>
          </a:solidFill>
          <a:ln/>
        </p:spPr>
      </p:sp>
      <p:sp>
        <p:nvSpPr>
          <p:cNvPr id="1299789730" name="Text 17"/>
          <p:cNvSpPr/>
          <p:nvPr/>
        </p:nvSpPr>
        <p:spPr bwMode="auto">
          <a:xfrm>
            <a:off x="11602105" y="269343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  <a:defRPr/>
            </a:pPr>
            <a:r>
              <a:rPr lang="en-US" sz="2100">
                <a:solidFill>
                  <a:srgbClr val="000000"/>
                </a:solidFill>
                <a:latin typeface="Gelasio Semi Bold"/>
                <a:ea typeface="Gelasio Semi Bold"/>
                <a:cs typeface="Gelasio Semi Bold"/>
              </a:rPr>
              <a:t>3</a:t>
            </a:r>
            <a:endParaRPr lang="en-US" sz="2100"/>
          </a:p>
        </p:txBody>
      </p:sp>
      <p:sp>
        <p:nvSpPr>
          <p:cNvPr id="1305124578" name="Text 18"/>
          <p:cNvSpPr/>
          <p:nvPr/>
        </p:nvSpPr>
        <p:spPr bwMode="auto">
          <a:xfrm>
            <a:off x="9897427" y="3430429"/>
            <a:ext cx="30564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User Experience (UX)</a:t>
            </a:r>
            <a:endParaRPr lang="en-US" sz="2200"/>
          </a:p>
        </p:txBody>
      </p:sp>
      <p:sp>
        <p:nvSpPr>
          <p:cNvPr id="49893569" name="Text 19"/>
          <p:cNvSpPr/>
          <p:nvPr/>
        </p:nvSpPr>
        <p:spPr bwMode="auto">
          <a:xfrm>
            <a:off x="9897427" y="392084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"Search-as-you-type" functionality.</a:t>
            </a:r>
            <a:endParaRPr lang="en-US" sz="1750"/>
          </a:p>
        </p:txBody>
      </p:sp>
      <p:sp>
        <p:nvSpPr>
          <p:cNvPr id="1687956511" name="Text 20"/>
          <p:cNvSpPr/>
          <p:nvPr/>
        </p:nvSpPr>
        <p:spPr bwMode="auto">
          <a:xfrm>
            <a:off x="9897427" y="472594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Hybrid View: Native File Browser + Instant Search List.</a:t>
            </a:r>
            <a:endParaRPr lang="en-US" sz="1750"/>
          </a:p>
        </p:txBody>
      </p:sp>
      <p:sp>
        <p:nvSpPr>
          <p:cNvPr id="1010039372" name="Text 21"/>
          <p:cNvSpPr/>
          <p:nvPr/>
        </p:nvSpPr>
        <p:spPr bwMode="auto">
          <a:xfrm>
            <a:off x="9897427" y="553104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Zero UI freezing during heavy indexing.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17491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5486400" cy="8230791"/>
          </a:xfrm>
          <a:prstGeom prst="rect">
            <a:avLst/>
          </a:prstGeom>
        </p:spPr>
      </p:pic>
      <p:pic>
        <p:nvPicPr>
          <p:cNvPr id="157431879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79083" y="947261"/>
            <a:ext cx="4928116" cy="6336268"/>
          </a:xfrm>
          <a:prstGeom prst="rect">
            <a:avLst/>
          </a:prstGeom>
        </p:spPr>
      </p:pic>
      <p:sp>
        <p:nvSpPr>
          <p:cNvPr id="1740384556" name="Text 0"/>
          <p:cNvSpPr/>
          <p:nvPr/>
        </p:nvSpPr>
        <p:spPr bwMode="auto">
          <a:xfrm>
            <a:off x="6267926" y="614005"/>
            <a:ext cx="487537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1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System Architecture (MVC Pattern)</a:t>
            </a:r>
            <a:endParaRPr lang="en-US" sz="2150"/>
          </a:p>
        </p:txBody>
      </p:sp>
      <p:sp>
        <p:nvSpPr>
          <p:cNvPr id="849239883" name="Text 1"/>
          <p:cNvSpPr/>
          <p:nvPr/>
        </p:nvSpPr>
        <p:spPr bwMode="auto">
          <a:xfrm>
            <a:off x="6267926" y="1052155"/>
            <a:ext cx="3349584" cy="418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  <a:defRPr/>
            </a:pPr>
            <a:r>
              <a:rPr lang="en-US" sz="26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Shutterstock</a:t>
            </a:r>
            <a:endParaRPr lang="en-US" sz="2600"/>
          </a:p>
        </p:txBody>
      </p:sp>
      <p:sp>
        <p:nvSpPr>
          <p:cNvPr id="100404440" name="Shape 2"/>
          <p:cNvSpPr/>
          <p:nvPr/>
        </p:nvSpPr>
        <p:spPr bwMode="auto">
          <a:xfrm>
            <a:off x="6267926" y="1805702"/>
            <a:ext cx="3678793" cy="3151227"/>
          </a:xfrm>
          <a:prstGeom prst="roundRect">
            <a:avLst>
              <a:gd name="adj" fmla="val 1063"/>
            </a:avLst>
          </a:prstGeom>
          <a:solidFill>
            <a:srgbClr val="EEE8DD"/>
          </a:solidFill>
          <a:ln/>
        </p:spPr>
      </p:sp>
      <p:sp>
        <p:nvSpPr>
          <p:cNvPr id="2096668953" name="Text 3"/>
          <p:cNvSpPr/>
          <p:nvPr/>
        </p:nvSpPr>
        <p:spPr bwMode="auto">
          <a:xfrm>
            <a:off x="6491168" y="2028943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15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Model (The Brain)</a:t>
            </a:r>
            <a:endParaRPr lang="en-US" sz="2150"/>
          </a:p>
        </p:txBody>
      </p:sp>
      <p:sp>
        <p:nvSpPr>
          <p:cNvPr id="1793730827" name="Text 4"/>
          <p:cNvSpPr/>
          <p:nvPr/>
        </p:nvSpPr>
        <p:spPr bwMode="auto">
          <a:xfrm>
            <a:off x="6491168" y="2511742"/>
            <a:ext cx="3232309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Stores the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Inverted Index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and File Metadata.</a:t>
            </a:r>
            <a:endParaRPr lang="en-US" sz="1750"/>
          </a:p>
        </p:txBody>
      </p:sp>
      <p:sp>
        <p:nvSpPr>
          <p:cNvPr id="2093293537" name="Text 5"/>
          <p:cNvSpPr/>
          <p:nvPr/>
        </p:nvSpPr>
        <p:spPr bwMode="auto">
          <a:xfrm>
            <a:off x="6491168" y="3304461"/>
            <a:ext cx="3232309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Handles the logic of os.walk and data structuring.</a:t>
            </a:r>
            <a:endParaRPr lang="en-US" sz="1750"/>
          </a:p>
        </p:txBody>
      </p:sp>
      <p:sp>
        <p:nvSpPr>
          <p:cNvPr id="1826762002" name="Shape 6"/>
          <p:cNvSpPr/>
          <p:nvPr/>
        </p:nvSpPr>
        <p:spPr bwMode="auto">
          <a:xfrm>
            <a:off x="10169962" y="1805702"/>
            <a:ext cx="3678911" cy="3151227"/>
          </a:xfrm>
          <a:prstGeom prst="roundRect">
            <a:avLst>
              <a:gd name="adj" fmla="val 1063"/>
            </a:avLst>
          </a:prstGeom>
          <a:solidFill>
            <a:srgbClr val="EEE8DD"/>
          </a:solidFill>
          <a:ln/>
        </p:spPr>
      </p:sp>
      <p:sp>
        <p:nvSpPr>
          <p:cNvPr id="1137222565" name="Text 7"/>
          <p:cNvSpPr/>
          <p:nvPr/>
        </p:nvSpPr>
        <p:spPr bwMode="auto">
          <a:xfrm>
            <a:off x="10393203" y="2028943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15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View (The Face)</a:t>
            </a:r>
            <a:endParaRPr lang="en-US" sz="2150"/>
          </a:p>
        </p:txBody>
      </p:sp>
      <p:sp>
        <p:nvSpPr>
          <p:cNvPr id="1388368849" name="Text 8"/>
          <p:cNvSpPr/>
          <p:nvPr/>
        </p:nvSpPr>
        <p:spPr bwMode="auto">
          <a:xfrm>
            <a:off x="10393203" y="2511742"/>
            <a:ext cx="3232428" cy="107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Built with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PyQt6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for native rendering on macOS/Windows.</a:t>
            </a:r>
            <a:endParaRPr lang="en-US" sz="1750"/>
          </a:p>
        </p:txBody>
      </p:sp>
      <p:sp>
        <p:nvSpPr>
          <p:cNvPr id="1731507031" name="Text 9"/>
          <p:cNvSpPr/>
          <p:nvPr/>
        </p:nvSpPr>
        <p:spPr bwMode="auto">
          <a:xfrm>
            <a:off x="10393203" y="3661767"/>
            <a:ext cx="3232428" cy="107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Displays the Folder Tree (Browser Mode) and Result List (Search Mode).</a:t>
            </a:r>
            <a:endParaRPr lang="en-US" sz="1750"/>
          </a:p>
        </p:txBody>
      </p:sp>
      <p:sp>
        <p:nvSpPr>
          <p:cNvPr id="869273645" name="Shape 10"/>
          <p:cNvSpPr/>
          <p:nvPr/>
        </p:nvSpPr>
        <p:spPr bwMode="auto">
          <a:xfrm>
            <a:off x="6267926" y="5180171"/>
            <a:ext cx="7580948" cy="2436613"/>
          </a:xfrm>
          <a:prstGeom prst="roundRect">
            <a:avLst>
              <a:gd name="adj" fmla="val 1375"/>
            </a:avLst>
          </a:prstGeom>
          <a:solidFill>
            <a:srgbClr val="EEE8DD"/>
          </a:solidFill>
          <a:ln/>
        </p:spPr>
      </p:sp>
      <p:sp>
        <p:nvSpPr>
          <p:cNvPr id="1755740084" name="Text 11"/>
          <p:cNvSpPr/>
          <p:nvPr/>
        </p:nvSpPr>
        <p:spPr bwMode="auto">
          <a:xfrm>
            <a:off x="6491168" y="5403413"/>
            <a:ext cx="296560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15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Controller (The Glue)</a:t>
            </a:r>
            <a:endParaRPr lang="en-US" sz="2150"/>
          </a:p>
        </p:txBody>
      </p:sp>
      <p:sp>
        <p:nvSpPr>
          <p:cNvPr id="1277713814" name="Text 12"/>
          <p:cNvSpPr/>
          <p:nvPr/>
        </p:nvSpPr>
        <p:spPr bwMode="auto">
          <a:xfrm>
            <a:off x="6491168" y="5886212"/>
            <a:ext cx="7134462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Connects user input to the backend logic.</a:t>
            </a:r>
            <a:endParaRPr lang="en-US" sz="1750"/>
          </a:p>
        </p:txBody>
      </p:sp>
      <p:sp>
        <p:nvSpPr>
          <p:cNvPr id="579685222" name="Text 13"/>
          <p:cNvSpPr/>
          <p:nvPr/>
        </p:nvSpPr>
        <p:spPr bwMode="auto">
          <a:xfrm>
            <a:off x="6491168" y="6321623"/>
            <a:ext cx="7134462" cy="107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Multithreading: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Uses QThread to run the Indexer on a background thread, ensuring the Main UI Thread remains responsive.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629472" name="Text 0"/>
          <p:cNvSpPr/>
          <p:nvPr/>
        </p:nvSpPr>
        <p:spPr bwMode="auto">
          <a:xfrm>
            <a:off x="723543" y="568404"/>
            <a:ext cx="4877038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Core IR Concept — The Inverted Index</a:t>
            </a:r>
            <a:endParaRPr lang="en-US" sz="2000"/>
          </a:p>
        </p:txBody>
      </p:sp>
      <p:sp>
        <p:nvSpPr>
          <p:cNvPr id="1871648778" name="Text 1"/>
          <p:cNvSpPr/>
          <p:nvPr/>
        </p:nvSpPr>
        <p:spPr bwMode="auto">
          <a:xfrm>
            <a:off x="723543" y="973930"/>
            <a:ext cx="310086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49"/>
              </a:lnSpc>
              <a:buNone/>
              <a:defRPr/>
            </a:pPr>
            <a:r>
              <a:rPr lang="en-US" sz="24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Definition:</a:t>
            </a:r>
            <a:endParaRPr lang="en-US" sz="2400"/>
          </a:p>
        </p:txBody>
      </p:sp>
      <p:sp>
        <p:nvSpPr>
          <p:cNvPr id="134705579" name="Text 2"/>
          <p:cNvSpPr/>
          <p:nvPr/>
        </p:nvSpPr>
        <p:spPr bwMode="auto">
          <a:xfrm>
            <a:off x="723543" y="1671518"/>
            <a:ext cx="13183314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  <a:defRPr/>
            </a:pPr>
            <a:r>
              <a:rPr lang="en-US" sz="16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A data structure that maps "terms" to the "documents" that contain them.</a:t>
            </a:r>
            <a:endParaRPr lang="en-US" sz="1600"/>
          </a:p>
        </p:txBody>
      </p:sp>
      <p:sp>
        <p:nvSpPr>
          <p:cNvPr id="1192472991" name="Text 3"/>
          <p:cNvSpPr/>
          <p:nvPr/>
        </p:nvSpPr>
        <p:spPr bwMode="auto">
          <a:xfrm>
            <a:off x="723543" y="2312194"/>
            <a:ext cx="310086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49"/>
              </a:lnSpc>
              <a:buNone/>
              <a:defRPr/>
            </a:pPr>
            <a:r>
              <a:rPr lang="en-US" sz="24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Why we use it:</a:t>
            </a:r>
            <a:endParaRPr lang="en-US" sz="2400"/>
          </a:p>
        </p:txBody>
      </p:sp>
      <p:pic>
        <p:nvPicPr>
          <p:cNvPr id="132309005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3543" y="3009781"/>
            <a:ext cx="6591657" cy="826889"/>
          </a:xfrm>
          <a:prstGeom prst="rect">
            <a:avLst/>
          </a:prstGeom>
        </p:spPr>
      </p:pic>
      <p:sp>
        <p:nvSpPr>
          <p:cNvPr id="382839092" name="Text 4"/>
          <p:cNvSpPr/>
          <p:nvPr/>
        </p:nvSpPr>
        <p:spPr bwMode="auto">
          <a:xfrm>
            <a:off x="930235" y="4043363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Linear Search</a:t>
            </a:r>
            <a:endParaRPr lang="en-US" sz="2000"/>
          </a:p>
        </p:txBody>
      </p:sp>
      <p:sp>
        <p:nvSpPr>
          <p:cNvPr id="842451485" name="Text 5"/>
          <p:cNvSpPr/>
          <p:nvPr/>
        </p:nvSpPr>
        <p:spPr bwMode="auto">
          <a:xfrm>
            <a:off x="930235" y="4490204"/>
            <a:ext cx="6178272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  <a:defRPr/>
            </a:pPr>
            <a:r>
              <a:rPr lang="en-US" sz="16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$O(N)$</a:t>
            </a:r>
            <a:r>
              <a:rPr lang="en-US" sz="16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complexity. You must open every drawer to find a sock.</a:t>
            </a:r>
            <a:endParaRPr lang="en-US" sz="1600"/>
          </a:p>
        </p:txBody>
      </p:sp>
      <p:pic>
        <p:nvPicPr>
          <p:cNvPr id="22432323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15200" y="3009781"/>
            <a:ext cx="6591657" cy="826889"/>
          </a:xfrm>
          <a:prstGeom prst="rect">
            <a:avLst/>
          </a:prstGeom>
        </p:spPr>
      </p:pic>
      <p:sp>
        <p:nvSpPr>
          <p:cNvPr id="1611701947" name="Text 6"/>
          <p:cNvSpPr/>
          <p:nvPr/>
        </p:nvSpPr>
        <p:spPr bwMode="auto">
          <a:xfrm>
            <a:off x="7521893" y="4043363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  <a:defRPr/>
            </a:pPr>
            <a:r>
              <a:rPr lang="en-US" sz="20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Inverted Index</a:t>
            </a:r>
            <a:endParaRPr lang="en-US" sz="2000"/>
          </a:p>
        </p:txBody>
      </p:sp>
      <p:sp>
        <p:nvSpPr>
          <p:cNvPr id="1969795410" name="Text 7"/>
          <p:cNvSpPr/>
          <p:nvPr/>
        </p:nvSpPr>
        <p:spPr bwMode="auto">
          <a:xfrm>
            <a:off x="7521893" y="4490204"/>
            <a:ext cx="6178272" cy="66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  <a:defRPr/>
            </a:pPr>
            <a:r>
              <a:rPr lang="en-US" sz="16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$O(1)$</a:t>
            </a:r>
            <a:r>
              <a:rPr lang="en-US" sz="16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complexity. You look at a manifest that tells you exactly which drawer the sock is in.</a:t>
            </a:r>
            <a:endParaRPr lang="en-US" sz="1600"/>
          </a:p>
        </p:txBody>
      </p:sp>
      <p:sp>
        <p:nvSpPr>
          <p:cNvPr id="1664644982" name="Text 8"/>
          <p:cNvSpPr/>
          <p:nvPr/>
        </p:nvSpPr>
        <p:spPr bwMode="auto">
          <a:xfrm>
            <a:off x="723543" y="5668207"/>
            <a:ext cx="310086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49"/>
              </a:lnSpc>
              <a:buNone/>
              <a:defRPr/>
            </a:pPr>
            <a:r>
              <a:rPr lang="en-US" sz="24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Implementation:</a:t>
            </a:r>
            <a:endParaRPr lang="en-US" sz="2400"/>
          </a:p>
        </p:txBody>
      </p:sp>
      <p:sp>
        <p:nvSpPr>
          <p:cNvPr id="2128242253" name="Text 9"/>
          <p:cNvSpPr/>
          <p:nvPr/>
        </p:nvSpPr>
        <p:spPr bwMode="auto">
          <a:xfrm>
            <a:off x="723543" y="6365796"/>
            <a:ext cx="13183314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  <a:defRPr/>
            </a:pPr>
            <a:r>
              <a:rPr lang="en-US" sz="16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We use a Python Dictionary (HashMap) where:</a:t>
            </a:r>
            <a:endParaRPr lang="en-US" sz="1600"/>
          </a:p>
        </p:txBody>
      </p:sp>
      <p:sp>
        <p:nvSpPr>
          <p:cNvPr id="1231156960" name="Text 10"/>
          <p:cNvSpPr/>
          <p:nvPr/>
        </p:nvSpPr>
        <p:spPr bwMode="auto">
          <a:xfrm>
            <a:off x="723543" y="6928961"/>
            <a:ext cx="13183314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  <a:defRPr/>
            </a:pPr>
            <a:r>
              <a:rPr lang="en-US" sz="16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Key:</a:t>
            </a:r>
            <a:r>
              <a:rPr lang="en-US" sz="16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A specific Trigram (e.g., dat).</a:t>
            </a:r>
            <a:endParaRPr lang="en-US" sz="1600"/>
          </a:p>
        </p:txBody>
      </p:sp>
      <p:sp>
        <p:nvSpPr>
          <p:cNvPr id="1132471014" name="Text 11"/>
          <p:cNvSpPr/>
          <p:nvPr/>
        </p:nvSpPr>
        <p:spPr bwMode="auto">
          <a:xfrm>
            <a:off x="723543" y="7331869"/>
            <a:ext cx="13183314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  <a:defRPr/>
            </a:pPr>
            <a:r>
              <a:rPr lang="en-US" sz="16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Value:</a:t>
            </a:r>
            <a:r>
              <a:rPr lang="en-US" sz="16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A "Postings List" of Document IDs (e.g., {1, 5, 20}).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928706" name="Text 0"/>
          <p:cNvSpPr/>
          <p:nvPr/>
        </p:nvSpPr>
        <p:spPr bwMode="auto">
          <a:xfrm>
            <a:off x="764143" y="600313"/>
            <a:ext cx="550390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  <a:defRPr/>
            </a:pPr>
            <a:r>
              <a:rPr lang="en-US" sz="21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Core IR Concept — N-Gram Tokenization</a:t>
            </a:r>
            <a:endParaRPr lang="en-US" sz="2100"/>
          </a:p>
        </p:txBody>
      </p:sp>
      <p:sp>
        <p:nvSpPr>
          <p:cNvPr id="262657273" name="Text 1"/>
          <p:cNvSpPr/>
          <p:nvPr/>
        </p:nvSpPr>
        <p:spPr bwMode="auto">
          <a:xfrm>
            <a:off x="764143" y="1028700"/>
            <a:ext cx="3275052" cy="4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5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The Challenge:</a:t>
            </a:r>
            <a:endParaRPr lang="en-US" sz="2550"/>
          </a:p>
        </p:txBody>
      </p:sp>
      <p:sp>
        <p:nvSpPr>
          <p:cNvPr id="2067358326" name="Text 2"/>
          <p:cNvSpPr/>
          <p:nvPr/>
        </p:nvSpPr>
        <p:spPr bwMode="auto">
          <a:xfrm>
            <a:off x="764143" y="1765459"/>
            <a:ext cx="13102114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Users rarely type full filenames. They type substrings (e.g., "port" for "Report").</a:t>
            </a:r>
            <a:endParaRPr lang="en-US" sz="1700"/>
          </a:p>
        </p:txBody>
      </p:sp>
      <p:sp>
        <p:nvSpPr>
          <p:cNvPr id="550769785" name="Text 3"/>
          <p:cNvSpPr/>
          <p:nvPr/>
        </p:nvSpPr>
        <p:spPr bwMode="auto">
          <a:xfrm>
            <a:off x="764143" y="2442210"/>
            <a:ext cx="3275052" cy="4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5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The Solution:</a:t>
            </a:r>
            <a:endParaRPr lang="en-US" sz="2550"/>
          </a:p>
        </p:txBody>
      </p:sp>
      <p:sp>
        <p:nvSpPr>
          <p:cNvPr id="670111437" name="Text 4"/>
          <p:cNvSpPr/>
          <p:nvPr/>
        </p:nvSpPr>
        <p:spPr bwMode="auto">
          <a:xfrm>
            <a:off x="764143" y="3178969"/>
            <a:ext cx="13102114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We use </a:t>
            </a:r>
            <a:r>
              <a:rPr lang="en-US" sz="17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Trigrams (3-Grams)</a:t>
            </a: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.</a:t>
            </a:r>
            <a:endParaRPr lang="en-US" sz="1700"/>
          </a:p>
        </p:txBody>
      </p:sp>
      <p:sp>
        <p:nvSpPr>
          <p:cNvPr id="90541033" name="Text 5"/>
          <p:cNvSpPr/>
          <p:nvPr/>
        </p:nvSpPr>
        <p:spPr bwMode="auto">
          <a:xfrm>
            <a:off x="764143" y="3855720"/>
            <a:ext cx="3275052" cy="4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5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Process:</a:t>
            </a:r>
            <a:endParaRPr lang="en-US" sz="2550"/>
          </a:p>
        </p:txBody>
      </p:sp>
      <p:sp>
        <p:nvSpPr>
          <p:cNvPr id="972819667" name="Text 6"/>
          <p:cNvSpPr/>
          <p:nvPr/>
        </p:nvSpPr>
        <p:spPr bwMode="auto">
          <a:xfrm>
            <a:off x="764143" y="4592479"/>
            <a:ext cx="13102114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  <a:defRPr/>
            </a:pPr>
            <a:r>
              <a:rPr lang="en-US" sz="17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Input:</a:t>
            </a: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report.pdf</a:t>
            </a:r>
            <a:endParaRPr lang="en-US" sz="1700"/>
          </a:p>
        </p:txBody>
      </p:sp>
      <p:sp>
        <p:nvSpPr>
          <p:cNvPr id="38155184" name="Text 7"/>
          <p:cNvSpPr/>
          <p:nvPr/>
        </p:nvSpPr>
        <p:spPr bwMode="auto">
          <a:xfrm>
            <a:off x="764143" y="5018127"/>
            <a:ext cx="13102114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  <a:defRPr/>
            </a:pPr>
            <a:r>
              <a:rPr lang="en-US" sz="17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Normalization:</a:t>
            </a: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Convert to lowercase $\rightarrow$ report.pdf</a:t>
            </a:r>
            <a:endParaRPr lang="en-US" sz="1700"/>
          </a:p>
        </p:txBody>
      </p:sp>
      <p:sp>
        <p:nvSpPr>
          <p:cNvPr id="1517830451" name="Text 8"/>
          <p:cNvSpPr/>
          <p:nvPr/>
        </p:nvSpPr>
        <p:spPr bwMode="auto">
          <a:xfrm>
            <a:off x="764143" y="5443776"/>
            <a:ext cx="13102114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  <a:defRPr/>
            </a:pPr>
            <a:r>
              <a:rPr lang="en-US" sz="17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Tokenization:</a:t>
            </a: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Break into 3-char overlapping shingles:</a:t>
            </a:r>
            <a:endParaRPr lang="en-US" sz="1700"/>
          </a:p>
        </p:txBody>
      </p:sp>
      <p:sp>
        <p:nvSpPr>
          <p:cNvPr id="574884640" name="Text 9"/>
          <p:cNvSpPr/>
          <p:nvPr/>
        </p:nvSpPr>
        <p:spPr bwMode="auto">
          <a:xfrm>
            <a:off x="764143" y="5869424"/>
            <a:ext cx="13102114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5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rep, epo, por, ort, rt., t.p, .pd, pdf</a:t>
            </a:r>
            <a:endParaRPr lang="en-US" sz="1700"/>
          </a:p>
        </p:txBody>
      </p:sp>
      <p:sp>
        <p:nvSpPr>
          <p:cNvPr id="1663451398" name="Text 10"/>
          <p:cNvSpPr/>
          <p:nvPr/>
        </p:nvSpPr>
        <p:spPr bwMode="auto">
          <a:xfrm>
            <a:off x="764143" y="6546175"/>
            <a:ext cx="3275052" cy="4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5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Benefit:</a:t>
            </a:r>
            <a:endParaRPr lang="en-US" sz="2550"/>
          </a:p>
        </p:txBody>
      </p:sp>
      <p:sp>
        <p:nvSpPr>
          <p:cNvPr id="1286241697" name="Text 11"/>
          <p:cNvSpPr/>
          <p:nvPr/>
        </p:nvSpPr>
        <p:spPr bwMode="auto">
          <a:xfrm>
            <a:off x="764143" y="7282934"/>
            <a:ext cx="13102114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This allows us to match partial queries instantly without scanning the whole string.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500154" name="Text 0"/>
          <p:cNvSpPr/>
          <p:nvPr/>
        </p:nvSpPr>
        <p:spPr bwMode="auto">
          <a:xfrm>
            <a:off x="760690" y="598289"/>
            <a:ext cx="5867399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  <a:defRPr/>
            </a:pPr>
            <a:r>
              <a:rPr lang="en-US" sz="21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Core IR Concept — Boolean Retrieval Model</a:t>
            </a:r>
            <a:endParaRPr lang="en-US" sz="2100"/>
          </a:p>
        </p:txBody>
      </p:sp>
      <p:sp>
        <p:nvSpPr>
          <p:cNvPr id="1295105871" name="Text 1"/>
          <p:cNvSpPr/>
          <p:nvPr/>
        </p:nvSpPr>
        <p:spPr bwMode="auto">
          <a:xfrm>
            <a:off x="760690" y="1024771"/>
            <a:ext cx="3260408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5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Logic:</a:t>
            </a:r>
            <a:endParaRPr lang="en-US" sz="2550"/>
          </a:p>
        </p:txBody>
      </p:sp>
      <p:sp>
        <p:nvSpPr>
          <p:cNvPr id="1818927509" name="Text 2"/>
          <p:cNvSpPr/>
          <p:nvPr/>
        </p:nvSpPr>
        <p:spPr bwMode="auto">
          <a:xfrm>
            <a:off x="760690" y="1758196"/>
            <a:ext cx="1310901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Our search engine uses </a:t>
            </a:r>
            <a:r>
              <a:rPr lang="en-US" sz="17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Conjunctive Queries</a:t>
            </a: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(The </a:t>
            </a:r>
            <a:r>
              <a:rPr lang="en-US" sz="17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AND</a:t>
            </a: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operator).</a:t>
            </a:r>
            <a:endParaRPr lang="en-US" sz="1700"/>
          </a:p>
        </p:txBody>
      </p:sp>
      <p:sp>
        <p:nvSpPr>
          <p:cNvPr id="1423115513" name="Text 3"/>
          <p:cNvSpPr/>
          <p:nvPr/>
        </p:nvSpPr>
        <p:spPr bwMode="auto">
          <a:xfrm>
            <a:off x="760690" y="2431971"/>
            <a:ext cx="3260408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5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Scenario:</a:t>
            </a:r>
            <a:endParaRPr lang="en-US" sz="2550"/>
          </a:p>
        </p:txBody>
      </p:sp>
      <p:sp>
        <p:nvSpPr>
          <p:cNvPr id="1230218192" name="Text 4"/>
          <p:cNvSpPr/>
          <p:nvPr/>
        </p:nvSpPr>
        <p:spPr bwMode="auto">
          <a:xfrm>
            <a:off x="760690" y="3165396"/>
            <a:ext cx="1310901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User searches for data.</a:t>
            </a:r>
            <a:endParaRPr lang="en-US" sz="1700"/>
          </a:p>
        </p:txBody>
      </p:sp>
      <p:sp>
        <p:nvSpPr>
          <p:cNvPr id="255852822" name="Text 5"/>
          <p:cNvSpPr/>
          <p:nvPr/>
        </p:nvSpPr>
        <p:spPr bwMode="auto">
          <a:xfrm>
            <a:off x="760690" y="3757613"/>
            <a:ext cx="1310901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/>
              <a:defRPr/>
            </a:pPr>
            <a:r>
              <a:rPr lang="en-US" sz="17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Step 1:</a:t>
            </a: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Decompose query into trigrams $\rightarrow$ dat, ata.</a:t>
            </a:r>
            <a:endParaRPr lang="en-US" sz="1700"/>
          </a:p>
        </p:txBody>
      </p:sp>
      <p:sp>
        <p:nvSpPr>
          <p:cNvPr id="1980360716" name="Text 6"/>
          <p:cNvSpPr/>
          <p:nvPr/>
        </p:nvSpPr>
        <p:spPr bwMode="auto">
          <a:xfrm>
            <a:off x="760690" y="4181356"/>
            <a:ext cx="1310901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2"/>
              <a:defRPr/>
            </a:pPr>
            <a:r>
              <a:rPr lang="en-US" sz="17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Step 2:</a:t>
            </a: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Retrieve Postings Lists:</a:t>
            </a:r>
            <a:endParaRPr lang="en-US" sz="1700"/>
          </a:p>
        </p:txBody>
      </p:sp>
      <p:sp>
        <p:nvSpPr>
          <p:cNvPr id="232678260" name="Text 7"/>
          <p:cNvSpPr/>
          <p:nvPr/>
        </p:nvSpPr>
        <p:spPr bwMode="auto">
          <a:xfrm>
            <a:off x="760690" y="4605099"/>
            <a:ext cx="1310901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dat $\rightarrow$ {Doc 1, Doc 5, Doc 99}</a:t>
            </a:r>
            <a:endParaRPr lang="en-US" sz="1700"/>
          </a:p>
        </p:txBody>
      </p:sp>
      <p:sp>
        <p:nvSpPr>
          <p:cNvPr id="765363713" name="Text 8"/>
          <p:cNvSpPr/>
          <p:nvPr/>
        </p:nvSpPr>
        <p:spPr bwMode="auto">
          <a:xfrm>
            <a:off x="760690" y="5028842"/>
            <a:ext cx="1310901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ata $\rightarrow$ {Doc 5, Doc 20}</a:t>
            </a:r>
            <a:endParaRPr lang="en-US" sz="1700"/>
          </a:p>
        </p:txBody>
      </p:sp>
      <p:sp>
        <p:nvSpPr>
          <p:cNvPr id="402960494" name="Text 9"/>
          <p:cNvSpPr/>
          <p:nvPr/>
        </p:nvSpPr>
        <p:spPr bwMode="auto">
          <a:xfrm>
            <a:off x="760690" y="5452586"/>
            <a:ext cx="1310901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3"/>
              <a:defRPr/>
            </a:pPr>
            <a:r>
              <a:rPr lang="en-US" sz="170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Step 3:</a:t>
            </a: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Perform Set Intersection:</a:t>
            </a:r>
            <a:endParaRPr lang="en-US" sz="1700"/>
          </a:p>
        </p:txBody>
      </p:sp>
      <p:sp>
        <p:nvSpPr>
          <p:cNvPr id="1342980044" name="Text 10"/>
          <p:cNvSpPr/>
          <p:nvPr/>
        </p:nvSpPr>
        <p:spPr bwMode="auto">
          <a:xfrm>
            <a:off x="760690" y="5876330"/>
            <a:ext cx="1310901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  <a:defRPr/>
            </a:pP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$\{1, 5, 99\} \cap \{5, 20\} = \{5\}$</a:t>
            </a:r>
            <a:endParaRPr lang="en-US" sz="1700"/>
          </a:p>
        </p:txBody>
      </p:sp>
      <p:sp>
        <p:nvSpPr>
          <p:cNvPr id="1280729043" name="Text 11"/>
          <p:cNvSpPr/>
          <p:nvPr/>
        </p:nvSpPr>
        <p:spPr bwMode="auto">
          <a:xfrm>
            <a:off x="760690" y="6550104"/>
            <a:ext cx="3260408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  <a:defRPr/>
            </a:pPr>
            <a:r>
              <a:rPr lang="en-US" sz="25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Result:</a:t>
            </a:r>
            <a:endParaRPr lang="en-US" sz="2550"/>
          </a:p>
        </p:txBody>
      </p:sp>
      <p:sp>
        <p:nvSpPr>
          <p:cNvPr id="959340008" name="Text 12"/>
          <p:cNvSpPr/>
          <p:nvPr/>
        </p:nvSpPr>
        <p:spPr bwMode="auto">
          <a:xfrm>
            <a:off x="760690" y="7283529"/>
            <a:ext cx="1310901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Only Document 5 matches </a:t>
            </a:r>
            <a:r>
              <a:rPr lang="en-US" sz="1700" i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both</a:t>
            </a:r>
            <a:r>
              <a:rPr lang="en-US" sz="170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parts of the query.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825562" name="Text 0"/>
          <p:cNvSpPr/>
          <p:nvPr/>
        </p:nvSpPr>
        <p:spPr bwMode="auto">
          <a:xfrm>
            <a:off x="793790" y="1930479"/>
            <a:ext cx="58783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Core IR Concept — Ranking &amp; Verification</a:t>
            </a:r>
            <a:endParaRPr lang="en-US" sz="2200"/>
          </a:p>
        </p:txBody>
      </p:sp>
      <p:sp>
        <p:nvSpPr>
          <p:cNvPr id="1567110290" name="Text 1"/>
          <p:cNvSpPr/>
          <p:nvPr/>
        </p:nvSpPr>
        <p:spPr bwMode="auto">
          <a:xfrm>
            <a:off x="793790" y="2375535"/>
            <a:ext cx="449675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False Positive Elimination:</a:t>
            </a:r>
            <a:endParaRPr lang="en-US" sz="2650"/>
          </a:p>
        </p:txBody>
      </p:sp>
      <p:sp>
        <p:nvSpPr>
          <p:cNvPr id="874240393" name="Text 2"/>
          <p:cNvSpPr/>
          <p:nvPr/>
        </p:nvSpPr>
        <p:spPr bwMode="auto">
          <a:xfrm>
            <a:off x="793790" y="31409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Trigrams are probabilistic. banana and bandana share many trigrams.</a:t>
            </a:r>
            <a:endParaRPr lang="en-US" sz="1750"/>
          </a:p>
        </p:txBody>
      </p:sp>
      <p:sp>
        <p:nvSpPr>
          <p:cNvPr id="1931514122" name="Text 3"/>
          <p:cNvSpPr/>
          <p:nvPr/>
        </p:nvSpPr>
        <p:spPr bwMode="auto">
          <a:xfrm>
            <a:off x="793790" y="35831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Verification Step: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After the index retrieval, we perform a quick exact substring check to ensure 100% precision.</a:t>
            </a:r>
            <a:endParaRPr lang="en-US" sz="1750"/>
          </a:p>
        </p:txBody>
      </p:sp>
      <p:sp>
        <p:nvSpPr>
          <p:cNvPr id="1525738203" name="Text 4"/>
          <p:cNvSpPr/>
          <p:nvPr/>
        </p:nvSpPr>
        <p:spPr bwMode="auto">
          <a:xfrm>
            <a:off x="793790" y="428625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Ranking Strategy:</a:t>
            </a:r>
            <a:endParaRPr lang="en-US" sz="2650"/>
          </a:p>
        </p:txBody>
      </p:sp>
      <p:sp>
        <p:nvSpPr>
          <p:cNvPr id="1684263886" name="Text 5"/>
          <p:cNvSpPr/>
          <p:nvPr/>
        </p:nvSpPr>
        <p:spPr bwMode="auto">
          <a:xfrm>
            <a:off x="793790" y="50517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Exact Match: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Files matching the query exactly appear at the top.</a:t>
            </a:r>
            <a:endParaRPr lang="en-US" sz="1750"/>
          </a:p>
        </p:txBody>
      </p:sp>
      <p:sp>
        <p:nvSpPr>
          <p:cNvPr id="754714065" name="Text 6"/>
          <p:cNvSpPr/>
          <p:nvPr/>
        </p:nvSpPr>
        <p:spPr bwMode="auto">
          <a:xfrm>
            <a:off x="793790" y="549390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Length Normalization: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Shorter filenames appear higher (assuming less noise).</a:t>
            </a:r>
            <a:endParaRPr lang="en-US" sz="1750"/>
          </a:p>
        </p:txBody>
      </p:sp>
      <p:sp>
        <p:nvSpPr>
          <p:cNvPr id="277461067" name="Text 7"/>
          <p:cNvSpPr/>
          <p:nvPr/>
        </p:nvSpPr>
        <p:spPr bwMode="auto">
          <a:xfrm>
            <a:off x="793790" y="59360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Alphabetical: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Tie-breaker sorting.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310128" name="Text 0"/>
          <p:cNvSpPr/>
          <p:nvPr/>
        </p:nvSpPr>
        <p:spPr bwMode="auto">
          <a:xfrm>
            <a:off x="793790" y="2129314"/>
            <a:ext cx="47921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The Workflow (Crawler to Search)</a:t>
            </a:r>
            <a:endParaRPr lang="en-US" sz="2200"/>
          </a:p>
        </p:txBody>
      </p:sp>
      <p:sp>
        <p:nvSpPr>
          <p:cNvPr id="981516964" name="Text 1"/>
          <p:cNvSpPr/>
          <p:nvPr/>
        </p:nvSpPr>
        <p:spPr bwMode="auto">
          <a:xfrm>
            <a:off x="793790" y="293727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 Light"/>
                <a:ea typeface="Gelasio Light"/>
                <a:cs typeface="Gelasio Light"/>
              </a:rPr>
              <a:t>01</a:t>
            </a:r>
            <a:endParaRPr lang="en-US" sz="1750"/>
          </a:p>
        </p:txBody>
      </p:sp>
      <p:sp>
        <p:nvSpPr>
          <p:cNvPr id="1687587298" name="Shape 2"/>
          <p:cNvSpPr/>
          <p:nvPr/>
        </p:nvSpPr>
        <p:spPr bwMode="auto">
          <a:xfrm>
            <a:off x="793790" y="3292316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72201690" name="Text 3"/>
          <p:cNvSpPr/>
          <p:nvPr/>
        </p:nvSpPr>
        <p:spPr bwMode="auto">
          <a:xfrm>
            <a:off x="793790" y="34666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Crawling</a:t>
            </a:r>
            <a:endParaRPr lang="en-US" sz="2200"/>
          </a:p>
        </p:txBody>
      </p:sp>
      <p:sp>
        <p:nvSpPr>
          <p:cNvPr id="764863186" name="Text 4"/>
          <p:cNvSpPr/>
          <p:nvPr/>
        </p:nvSpPr>
        <p:spPr bwMode="auto">
          <a:xfrm>
            <a:off x="793790" y="395704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The IndexerWorker traverses the directory tree using os.walk.</a:t>
            </a:r>
            <a:endParaRPr lang="en-US" sz="1750"/>
          </a:p>
        </p:txBody>
      </p:sp>
      <p:sp>
        <p:nvSpPr>
          <p:cNvPr id="2147220742" name="Text 5"/>
          <p:cNvSpPr/>
          <p:nvPr/>
        </p:nvSpPr>
        <p:spPr bwMode="auto">
          <a:xfrm>
            <a:off x="793790" y="476214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Collects metadata: Path, Size, Date, Extension.</a:t>
            </a:r>
            <a:endParaRPr lang="en-US" sz="1750"/>
          </a:p>
        </p:txBody>
      </p:sp>
      <p:sp>
        <p:nvSpPr>
          <p:cNvPr id="187920495" name="Text 6"/>
          <p:cNvSpPr/>
          <p:nvPr/>
        </p:nvSpPr>
        <p:spPr bwMode="auto">
          <a:xfrm>
            <a:off x="5216962" y="293727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 Light"/>
                <a:ea typeface="Gelasio Light"/>
                <a:cs typeface="Gelasio Light"/>
              </a:rPr>
              <a:t>02</a:t>
            </a:r>
            <a:endParaRPr lang="en-US" sz="1750"/>
          </a:p>
        </p:txBody>
      </p:sp>
      <p:sp>
        <p:nvSpPr>
          <p:cNvPr id="866005339" name="Shape 7"/>
          <p:cNvSpPr/>
          <p:nvPr/>
        </p:nvSpPr>
        <p:spPr bwMode="auto">
          <a:xfrm>
            <a:off x="5216962" y="3292316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226079516" name="Text 8"/>
          <p:cNvSpPr/>
          <p:nvPr/>
        </p:nvSpPr>
        <p:spPr bwMode="auto">
          <a:xfrm>
            <a:off x="5216962" y="34666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Indexing</a:t>
            </a:r>
            <a:endParaRPr lang="en-US" sz="2200"/>
          </a:p>
        </p:txBody>
      </p:sp>
      <p:sp>
        <p:nvSpPr>
          <p:cNvPr id="1665826007" name="Text 9"/>
          <p:cNvSpPr/>
          <p:nvPr/>
        </p:nvSpPr>
        <p:spPr bwMode="auto">
          <a:xfrm>
            <a:off x="5216962" y="395704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Assigns a unique DocID to every file.</a:t>
            </a:r>
            <a:endParaRPr lang="en-US" sz="1750"/>
          </a:p>
        </p:txBody>
      </p:sp>
      <p:sp>
        <p:nvSpPr>
          <p:cNvPr id="1348209887" name="Text 10"/>
          <p:cNvSpPr/>
          <p:nvPr/>
        </p:nvSpPr>
        <p:spPr bwMode="auto">
          <a:xfrm>
            <a:off x="5216962" y="439924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Generates Trigrams and populates the Inverted Index in memory.</a:t>
            </a:r>
            <a:endParaRPr lang="en-US" sz="1750"/>
          </a:p>
        </p:txBody>
      </p:sp>
      <p:sp>
        <p:nvSpPr>
          <p:cNvPr id="1170913764" name="Text 11"/>
          <p:cNvSpPr/>
          <p:nvPr/>
        </p:nvSpPr>
        <p:spPr bwMode="auto">
          <a:xfrm>
            <a:off x="9640133" y="293727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 Light"/>
                <a:ea typeface="Gelasio Light"/>
                <a:cs typeface="Gelasio Light"/>
              </a:rPr>
              <a:t>03</a:t>
            </a:r>
            <a:endParaRPr lang="en-US" sz="1750"/>
          </a:p>
        </p:txBody>
      </p:sp>
      <p:sp>
        <p:nvSpPr>
          <p:cNvPr id="59574845" name="Shape 12"/>
          <p:cNvSpPr/>
          <p:nvPr/>
        </p:nvSpPr>
        <p:spPr bwMode="auto">
          <a:xfrm>
            <a:off x="9640133" y="3292316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27897177" name="Text 13"/>
          <p:cNvSpPr/>
          <p:nvPr/>
        </p:nvSpPr>
        <p:spPr bwMode="auto">
          <a:xfrm>
            <a:off x="9640133" y="34666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Searching</a:t>
            </a:r>
            <a:endParaRPr lang="en-US" sz="2200"/>
          </a:p>
        </p:txBody>
      </p:sp>
      <p:sp>
        <p:nvSpPr>
          <p:cNvPr id="768571061" name="Text 14"/>
          <p:cNvSpPr/>
          <p:nvPr/>
        </p:nvSpPr>
        <p:spPr bwMode="auto">
          <a:xfrm>
            <a:off x="9640133" y="395704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User input triggers the search_index function.</a:t>
            </a:r>
            <a:endParaRPr lang="en-US" sz="1750"/>
          </a:p>
        </p:txBody>
      </p:sp>
      <p:sp>
        <p:nvSpPr>
          <p:cNvPr id="419479425" name="Text 15"/>
          <p:cNvSpPr/>
          <p:nvPr/>
        </p:nvSpPr>
        <p:spPr bwMode="auto">
          <a:xfrm>
            <a:off x="9640133" y="476214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Retrieves candidate IDs via Set Intersection.</a:t>
            </a:r>
            <a:endParaRPr lang="en-US" sz="1750"/>
          </a:p>
        </p:txBody>
      </p:sp>
      <p:sp>
        <p:nvSpPr>
          <p:cNvPr id="1050323436" name="Text 16"/>
          <p:cNvSpPr/>
          <p:nvPr/>
        </p:nvSpPr>
        <p:spPr bwMode="auto">
          <a:xfrm>
            <a:off x="9640133" y="556724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UI updates the Result List.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930710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173015565" name="Text 0"/>
          <p:cNvSpPr/>
          <p:nvPr/>
        </p:nvSpPr>
        <p:spPr bwMode="auto">
          <a:xfrm>
            <a:off x="793790" y="1275755"/>
            <a:ext cx="58259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</a:rPr>
              <a:t>Fast File Search Tool</a:t>
            </a:r>
            <a:endParaRPr lang="en-US" sz="4450"/>
          </a:p>
        </p:txBody>
      </p:sp>
      <p:sp>
        <p:nvSpPr>
          <p:cNvPr id="1979106755" name="Text 1"/>
          <p:cNvSpPr/>
          <p:nvPr/>
        </p:nvSpPr>
        <p:spPr bwMode="auto">
          <a:xfrm>
            <a:off x="793790" y="2075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3C5B6"/>
                </a:solidFill>
                <a:latin typeface="Gelasio Semi Bold"/>
                <a:ea typeface="Gelasio Semi Bold"/>
                <a:cs typeface="Gelasio Semi Bold"/>
              </a:rPr>
              <a:t>Technical Stack</a:t>
            </a:r>
            <a:endParaRPr lang="en-US" sz="2200"/>
          </a:p>
        </p:txBody>
      </p:sp>
      <p:sp>
        <p:nvSpPr>
          <p:cNvPr id="1970587027" name="Text 2"/>
          <p:cNvSpPr/>
          <p:nvPr/>
        </p:nvSpPr>
        <p:spPr bwMode="auto">
          <a:xfrm>
            <a:off x="793790" y="27697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Language: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Python 3.11+</a:t>
            </a:r>
            <a:endParaRPr lang="en-US" sz="1750"/>
          </a:p>
        </p:txBody>
      </p:sp>
      <p:sp>
        <p:nvSpPr>
          <p:cNvPr id="2023275159" name="Text 3"/>
          <p:cNvSpPr/>
          <p:nvPr/>
        </p:nvSpPr>
        <p:spPr bwMode="auto">
          <a:xfrm>
            <a:off x="793790" y="32119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GUI Framework: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PyQt6</a:t>
            </a:r>
            <a:endParaRPr lang="en-US" sz="1750"/>
          </a:p>
        </p:txBody>
      </p:sp>
      <p:sp>
        <p:nvSpPr>
          <p:cNvPr id="1192759466" name="Text 4"/>
          <p:cNvSpPr/>
          <p:nvPr/>
        </p:nvSpPr>
        <p:spPr bwMode="auto">
          <a:xfrm>
            <a:off x="793790" y="365414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Selected over Tkinter to solve macOS Dark Mode issues and support complex widgets like QTreeView.</a:t>
            </a:r>
            <a:endParaRPr lang="en-US" sz="1750"/>
          </a:p>
        </p:txBody>
      </p:sp>
      <p:sp>
        <p:nvSpPr>
          <p:cNvPr id="890823014" name="Text 5"/>
          <p:cNvSpPr/>
          <p:nvPr/>
        </p:nvSpPr>
        <p:spPr bwMode="auto">
          <a:xfrm>
            <a:off x="793790" y="445924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Data Structures:</a:t>
            </a:r>
            <a:endParaRPr lang="en-US" sz="1750"/>
          </a:p>
        </p:txBody>
      </p:sp>
      <p:sp>
        <p:nvSpPr>
          <p:cNvPr id="1851964077" name="Text 6"/>
          <p:cNvSpPr/>
          <p:nvPr/>
        </p:nvSpPr>
        <p:spPr bwMode="auto">
          <a:xfrm>
            <a:off x="793790" y="490144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defaultdict(set): For the Inverted Index (handling sparse data efficiently).</a:t>
            </a:r>
            <a:endParaRPr lang="en-US" sz="1750"/>
          </a:p>
        </p:txBody>
      </p:sp>
      <p:sp>
        <p:nvSpPr>
          <p:cNvPr id="1072277819" name="Text 7"/>
          <p:cNvSpPr/>
          <p:nvPr/>
        </p:nvSpPr>
        <p:spPr bwMode="auto">
          <a:xfrm>
            <a:off x="793790" y="57065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Counter: For calculating file extension frequencies.</a:t>
            </a:r>
            <a:endParaRPr lang="en-US" sz="1750"/>
          </a:p>
        </p:txBody>
      </p:sp>
      <p:sp>
        <p:nvSpPr>
          <p:cNvPr id="1301925569" name="Text 8"/>
          <p:cNvSpPr/>
          <p:nvPr/>
        </p:nvSpPr>
        <p:spPr bwMode="auto">
          <a:xfrm>
            <a:off x="793790" y="61487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OS Integration:</a:t>
            </a:r>
            <a:endParaRPr lang="en-US" sz="1750"/>
          </a:p>
        </p:txBody>
      </p:sp>
      <p:sp>
        <p:nvSpPr>
          <p:cNvPr id="67678893" name="Text 9"/>
          <p:cNvSpPr/>
          <p:nvPr/>
        </p:nvSpPr>
        <p:spPr bwMode="auto">
          <a:xfrm>
            <a:off x="793790" y="659094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subprocess: To handle "Reveal in Finder/Explorer" commands natively.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101416" name="Text 0"/>
          <p:cNvSpPr/>
          <p:nvPr/>
        </p:nvSpPr>
        <p:spPr bwMode="auto">
          <a:xfrm>
            <a:off x="793790" y="1504354"/>
            <a:ext cx="521993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D3C5B6"/>
                </a:solidFill>
                <a:latin typeface="Gelasio Semi Bold"/>
                <a:ea typeface="Gelasio Semi Bold"/>
                <a:cs typeface="Gelasio Semi Bold"/>
              </a:rPr>
              <a:t>User Experience (UX) Features</a:t>
            </a:r>
            <a:endParaRPr lang="en-US" sz="2650"/>
          </a:p>
        </p:txBody>
      </p:sp>
      <p:sp>
        <p:nvSpPr>
          <p:cNvPr id="1598840608" name="Shape 1"/>
          <p:cNvSpPr/>
          <p:nvPr/>
        </p:nvSpPr>
        <p:spPr bwMode="auto">
          <a:xfrm>
            <a:off x="793790" y="2383274"/>
            <a:ext cx="4196358" cy="4341852"/>
          </a:xfrm>
          <a:prstGeom prst="roundRect">
            <a:avLst>
              <a:gd name="adj" fmla="val 348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314684614" name="Shape 2"/>
          <p:cNvSpPr/>
          <p:nvPr/>
        </p:nvSpPr>
        <p:spPr bwMode="auto">
          <a:xfrm>
            <a:off x="763310" y="2383274"/>
            <a:ext cx="121920" cy="434185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677734377" name="Text 3"/>
          <p:cNvSpPr/>
          <p:nvPr/>
        </p:nvSpPr>
        <p:spPr bwMode="auto">
          <a:xfrm>
            <a:off x="1142524" y="2640568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Hybrid View Architecture:</a:t>
            </a:r>
            <a:endParaRPr lang="en-US" sz="2200"/>
          </a:p>
        </p:txBody>
      </p:sp>
      <p:sp>
        <p:nvSpPr>
          <p:cNvPr id="409318887" name="Text 4"/>
          <p:cNvSpPr/>
          <p:nvPr/>
        </p:nvSpPr>
        <p:spPr bwMode="auto">
          <a:xfrm>
            <a:off x="1142524" y="3485317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Browser Mode: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When idle, the app acts as a native File Explorer with a full folder tree structure.</a:t>
            </a:r>
            <a:endParaRPr lang="en-US" sz="1750"/>
          </a:p>
        </p:txBody>
      </p:sp>
      <p:sp>
        <p:nvSpPr>
          <p:cNvPr id="1102612392" name="Text 5"/>
          <p:cNvSpPr/>
          <p:nvPr/>
        </p:nvSpPr>
        <p:spPr bwMode="auto">
          <a:xfrm>
            <a:off x="1142524" y="5016221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Search Mode: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As soon as typing begins, the view swaps to a flat, prioritized list of search results.</a:t>
            </a:r>
            <a:endParaRPr lang="en-US" sz="1750"/>
          </a:p>
        </p:txBody>
      </p:sp>
      <p:sp>
        <p:nvSpPr>
          <p:cNvPr id="1458241464" name="Shape 6"/>
          <p:cNvSpPr/>
          <p:nvPr/>
        </p:nvSpPr>
        <p:spPr bwMode="auto">
          <a:xfrm>
            <a:off x="5216962" y="2383274"/>
            <a:ext cx="4196358" cy="4341852"/>
          </a:xfrm>
          <a:prstGeom prst="roundRect">
            <a:avLst>
              <a:gd name="adj" fmla="val 348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743555491" name="Shape 7"/>
          <p:cNvSpPr/>
          <p:nvPr/>
        </p:nvSpPr>
        <p:spPr bwMode="auto">
          <a:xfrm>
            <a:off x="5186482" y="2383274"/>
            <a:ext cx="121920" cy="434185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284512875" name="Text 8"/>
          <p:cNvSpPr/>
          <p:nvPr/>
        </p:nvSpPr>
        <p:spPr bwMode="auto">
          <a:xfrm>
            <a:off x="5565696" y="2640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Smart Filtering:</a:t>
            </a:r>
            <a:endParaRPr lang="en-US" sz="2200"/>
          </a:p>
        </p:txBody>
      </p:sp>
      <p:sp>
        <p:nvSpPr>
          <p:cNvPr id="1212385881" name="Text 9"/>
          <p:cNvSpPr/>
          <p:nvPr/>
        </p:nvSpPr>
        <p:spPr bwMode="auto">
          <a:xfrm>
            <a:off x="5565696" y="3130987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The "File Type" dropdown isn't just alphabetical; it sorts extensions by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Frequency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(e.g., if you have mostly PDFs, .pdf appears at the top).</a:t>
            </a:r>
            <a:endParaRPr lang="en-US" sz="1750"/>
          </a:p>
        </p:txBody>
      </p:sp>
      <p:sp>
        <p:nvSpPr>
          <p:cNvPr id="169591525" name="Shape 10"/>
          <p:cNvSpPr/>
          <p:nvPr/>
        </p:nvSpPr>
        <p:spPr bwMode="auto">
          <a:xfrm>
            <a:off x="9640133" y="2383274"/>
            <a:ext cx="4196358" cy="4341852"/>
          </a:xfrm>
          <a:prstGeom prst="roundRect">
            <a:avLst>
              <a:gd name="adj" fmla="val 348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070337938" name="Shape 11"/>
          <p:cNvSpPr/>
          <p:nvPr/>
        </p:nvSpPr>
        <p:spPr bwMode="auto">
          <a:xfrm>
            <a:off x="9609653" y="2383274"/>
            <a:ext cx="121920" cy="434185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783881660" name="Text 12"/>
          <p:cNvSpPr/>
          <p:nvPr/>
        </p:nvSpPr>
        <p:spPr bwMode="auto">
          <a:xfrm>
            <a:off x="9988868" y="2640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Context Menus:</a:t>
            </a:r>
            <a:endParaRPr lang="en-US" sz="2200"/>
          </a:p>
        </p:txBody>
      </p:sp>
      <p:sp>
        <p:nvSpPr>
          <p:cNvPr id="1353872168" name="Text 13"/>
          <p:cNvSpPr/>
          <p:nvPr/>
        </p:nvSpPr>
        <p:spPr bwMode="auto">
          <a:xfrm>
            <a:off x="9988868" y="3130987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Right-click support to "Copy Path" or "Reveal File".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229585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2033516148" name="Text 0"/>
          <p:cNvSpPr/>
          <p:nvPr/>
        </p:nvSpPr>
        <p:spPr bwMode="auto">
          <a:xfrm>
            <a:off x="6233160" y="758547"/>
            <a:ext cx="361723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  <a:defRPr/>
            </a:pPr>
            <a:r>
              <a:rPr lang="en-US" sz="2500">
                <a:solidFill>
                  <a:srgbClr val="D3C5B6"/>
                </a:solidFill>
                <a:latin typeface="Gelasio Semi Bold"/>
                <a:ea typeface="Gelasio Semi Bold"/>
                <a:cs typeface="Gelasio Semi Bold"/>
              </a:rPr>
              <a:t>Challenges &amp; Solutions</a:t>
            </a:r>
            <a:endParaRPr lang="en-US" sz="2500"/>
          </a:p>
        </p:txBody>
      </p:sp>
      <p:sp>
        <p:nvSpPr>
          <p:cNvPr id="548711756" name="Shape 1"/>
          <p:cNvSpPr/>
          <p:nvPr/>
        </p:nvSpPr>
        <p:spPr bwMode="auto">
          <a:xfrm>
            <a:off x="6233160" y="1478637"/>
            <a:ext cx="3718560" cy="3738920"/>
          </a:xfrm>
          <a:prstGeom prst="roundRect">
            <a:avLst>
              <a:gd name="adj" fmla="val 861"/>
            </a:avLst>
          </a:prstGeom>
          <a:solidFill>
            <a:srgbClr val="EEE8DD"/>
          </a:solidFill>
          <a:ln/>
        </p:spPr>
      </p:sp>
      <p:sp>
        <p:nvSpPr>
          <p:cNvPr id="2090342090" name="Text 2"/>
          <p:cNvSpPr/>
          <p:nvPr/>
        </p:nvSpPr>
        <p:spPr bwMode="auto">
          <a:xfrm>
            <a:off x="6446520" y="1691997"/>
            <a:ext cx="329184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  <a:defRPr/>
            </a:pPr>
            <a:r>
              <a:rPr lang="en-US" sz="21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Challenge 1: The "Frozen UI"</a:t>
            </a:r>
            <a:endParaRPr lang="en-US" sz="2100"/>
          </a:p>
        </p:txBody>
      </p:sp>
      <p:sp>
        <p:nvSpPr>
          <p:cNvPr id="250382228" name="Text 3"/>
          <p:cNvSpPr/>
          <p:nvPr/>
        </p:nvSpPr>
        <p:spPr bwMode="auto">
          <a:xfrm>
            <a:off x="6446520" y="2486739"/>
            <a:ext cx="3291840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  <a:defRPr/>
            </a:pPr>
            <a:r>
              <a:rPr lang="en-US" sz="1650" i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Issue:</a:t>
            </a:r>
            <a:r>
              <a:rPr lang="en-US" sz="16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Indexing large folders blocked the main application loop.</a:t>
            </a:r>
            <a:endParaRPr lang="en-US" sz="1650"/>
          </a:p>
        </p:txBody>
      </p:sp>
      <p:sp>
        <p:nvSpPr>
          <p:cNvPr id="1727544940" name="Text 4"/>
          <p:cNvSpPr/>
          <p:nvPr/>
        </p:nvSpPr>
        <p:spPr bwMode="auto">
          <a:xfrm>
            <a:off x="6446520" y="3297436"/>
            <a:ext cx="3291840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  <a:defRPr/>
            </a:pPr>
            <a:r>
              <a:rPr lang="en-US" sz="1650" i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Solution:</a:t>
            </a:r>
            <a:r>
              <a:rPr lang="en-US" sz="16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Implemented </a:t>
            </a:r>
            <a:r>
              <a:rPr lang="en-US" sz="16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Multithreading</a:t>
            </a:r>
            <a:r>
              <a:rPr lang="en-US" sz="16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. The Indexer runs on a separate worker thread and communicates progress via Signals.</a:t>
            </a:r>
            <a:endParaRPr lang="en-US" sz="1650"/>
          </a:p>
        </p:txBody>
      </p:sp>
      <p:sp>
        <p:nvSpPr>
          <p:cNvPr id="1865953883" name="Shape 5"/>
          <p:cNvSpPr/>
          <p:nvPr/>
        </p:nvSpPr>
        <p:spPr bwMode="auto">
          <a:xfrm>
            <a:off x="10165080" y="1478637"/>
            <a:ext cx="3718560" cy="3738920"/>
          </a:xfrm>
          <a:prstGeom prst="roundRect">
            <a:avLst>
              <a:gd name="adj" fmla="val 861"/>
            </a:avLst>
          </a:prstGeom>
          <a:solidFill>
            <a:srgbClr val="EEE8DD"/>
          </a:solidFill>
          <a:ln/>
        </p:spPr>
      </p:sp>
      <p:sp>
        <p:nvSpPr>
          <p:cNvPr id="1444750721" name="Text 6"/>
          <p:cNvSpPr/>
          <p:nvPr/>
        </p:nvSpPr>
        <p:spPr bwMode="auto">
          <a:xfrm>
            <a:off x="10378440" y="1691997"/>
            <a:ext cx="329184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  <a:defRPr/>
            </a:pPr>
            <a:r>
              <a:rPr lang="en-US" sz="21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Challenge 2: macOS Dark Mode</a:t>
            </a:r>
            <a:endParaRPr lang="en-US" sz="2100"/>
          </a:p>
        </p:txBody>
      </p:sp>
      <p:sp>
        <p:nvSpPr>
          <p:cNvPr id="1857260755" name="Text 7"/>
          <p:cNvSpPr/>
          <p:nvPr/>
        </p:nvSpPr>
        <p:spPr bwMode="auto">
          <a:xfrm>
            <a:off x="10378440" y="2486739"/>
            <a:ext cx="3291840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  <a:defRPr/>
            </a:pPr>
            <a:r>
              <a:rPr lang="en-US" sz="1650" i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Issue:</a:t>
            </a:r>
            <a:r>
              <a:rPr lang="en-US" sz="16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Standard UI libraries rendered invisible text on dark backgrounds.</a:t>
            </a:r>
            <a:endParaRPr lang="en-US" sz="1650"/>
          </a:p>
        </p:txBody>
      </p:sp>
      <p:sp>
        <p:nvSpPr>
          <p:cNvPr id="1597787727" name="Text 8"/>
          <p:cNvSpPr/>
          <p:nvPr/>
        </p:nvSpPr>
        <p:spPr bwMode="auto">
          <a:xfrm>
            <a:off x="10378440" y="3638788"/>
            <a:ext cx="3291840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  <a:defRPr/>
            </a:pPr>
            <a:r>
              <a:rPr lang="en-US" sz="1650" i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Solution:</a:t>
            </a:r>
            <a:r>
              <a:rPr lang="en-US" sz="16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Migrated to PyQt6, which respects system themes and provides native rendering.</a:t>
            </a:r>
            <a:endParaRPr lang="en-US" sz="1650"/>
          </a:p>
        </p:txBody>
      </p:sp>
      <p:sp>
        <p:nvSpPr>
          <p:cNvPr id="1777358682" name="Shape 9"/>
          <p:cNvSpPr/>
          <p:nvPr/>
        </p:nvSpPr>
        <p:spPr bwMode="auto">
          <a:xfrm>
            <a:off x="6233160" y="5430917"/>
            <a:ext cx="7650480" cy="2040136"/>
          </a:xfrm>
          <a:prstGeom prst="roundRect">
            <a:avLst>
              <a:gd name="adj" fmla="val 1569"/>
            </a:avLst>
          </a:prstGeom>
          <a:solidFill>
            <a:srgbClr val="EEE8DD"/>
          </a:solidFill>
          <a:ln/>
        </p:spPr>
      </p:sp>
      <p:sp>
        <p:nvSpPr>
          <p:cNvPr id="2006068430" name="Text 10"/>
          <p:cNvSpPr/>
          <p:nvPr/>
        </p:nvSpPr>
        <p:spPr bwMode="auto">
          <a:xfrm>
            <a:off x="6446520" y="5644277"/>
            <a:ext cx="416099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  <a:defRPr/>
            </a:pPr>
            <a:r>
              <a:rPr lang="en-US" sz="21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Challenge 3: "Blank Start" State</a:t>
            </a:r>
            <a:endParaRPr lang="en-US" sz="2100"/>
          </a:p>
        </p:txBody>
      </p:sp>
      <p:sp>
        <p:nvSpPr>
          <p:cNvPr id="565202266" name="Text 11"/>
          <p:cNvSpPr/>
          <p:nvPr/>
        </p:nvSpPr>
        <p:spPr bwMode="auto">
          <a:xfrm>
            <a:off x="6446520" y="6105644"/>
            <a:ext cx="7223760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  <a:defRPr/>
            </a:pPr>
            <a:r>
              <a:rPr lang="en-US" sz="1650" i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Issue:</a:t>
            </a:r>
            <a:r>
              <a:rPr lang="en-US" sz="16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The app looked broken when launched without a folder selected.</a:t>
            </a:r>
            <a:endParaRPr lang="en-US" sz="1650"/>
          </a:p>
        </p:txBody>
      </p:sp>
      <p:sp>
        <p:nvSpPr>
          <p:cNvPr id="389557483" name="Text 12"/>
          <p:cNvSpPr/>
          <p:nvPr/>
        </p:nvSpPr>
        <p:spPr bwMode="auto">
          <a:xfrm>
            <a:off x="6446520" y="6574988"/>
            <a:ext cx="7223760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  <a:defRPr/>
            </a:pPr>
            <a:r>
              <a:rPr lang="en-US" sz="1650" i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Solution:</a:t>
            </a:r>
            <a:r>
              <a:rPr lang="en-US" sz="16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Added a "Clean Start" state with clear instructions and a placeholder view.</a:t>
            </a:r>
            <a:endParaRPr lang="en-US" sz="1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543878" name="Text 0"/>
          <p:cNvSpPr/>
          <p:nvPr/>
        </p:nvSpPr>
        <p:spPr bwMode="auto">
          <a:xfrm>
            <a:off x="793790" y="629007"/>
            <a:ext cx="341840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D3C5B6"/>
                </a:solidFill>
                <a:latin typeface="Gelasio Semi Bold"/>
                <a:ea typeface="Gelasio Semi Bold"/>
                <a:cs typeface="Gelasio Semi Bold"/>
              </a:rPr>
              <a:t>Live Demo Checklist</a:t>
            </a:r>
            <a:endParaRPr lang="en-US" sz="2650"/>
          </a:p>
        </p:txBody>
      </p:sp>
      <p:sp>
        <p:nvSpPr>
          <p:cNvPr id="471836861" name="Text 1"/>
          <p:cNvSpPr/>
          <p:nvPr/>
        </p:nvSpPr>
        <p:spPr bwMode="auto">
          <a:xfrm>
            <a:off x="793790" y="15079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(Speaker notes for the live demonstration)</a:t>
            </a:r>
            <a:endParaRPr lang="en-US" sz="1750"/>
          </a:p>
        </p:txBody>
      </p:sp>
      <p:sp>
        <p:nvSpPr>
          <p:cNvPr id="808714658" name="Text 2"/>
          <p:cNvSpPr/>
          <p:nvPr/>
        </p:nvSpPr>
        <p:spPr bwMode="auto">
          <a:xfrm>
            <a:off x="793790" y="212598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 Light"/>
                <a:ea typeface="Gelasio Light"/>
                <a:cs typeface="Gelasio Light"/>
              </a:rPr>
              <a:t>01</a:t>
            </a:r>
            <a:endParaRPr lang="en-US" sz="1750"/>
          </a:p>
        </p:txBody>
      </p:sp>
      <p:sp>
        <p:nvSpPr>
          <p:cNvPr id="1698015546" name="Shape 3"/>
          <p:cNvSpPr/>
          <p:nvPr/>
        </p:nvSpPr>
        <p:spPr bwMode="auto">
          <a:xfrm>
            <a:off x="793790" y="2481024"/>
            <a:ext cx="6407943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008078348" name="Text 4"/>
          <p:cNvSpPr/>
          <p:nvPr/>
        </p:nvSpPr>
        <p:spPr bwMode="auto">
          <a:xfrm>
            <a:off x="793790" y="2655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Launch:</a:t>
            </a:r>
            <a:endParaRPr lang="en-US" sz="2200"/>
          </a:p>
        </p:txBody>
      </p:sp>
      <p:sp>
        <p:nvSpPr>
          <p:cNvPr id="487161729" name="Text 5"/>
          <p:cNvSpPr/>
          <p:nvPr/>
        </p:nvSpPr>
        <p:spPr bwMode="auto">
          <a:xfrm>
            <a:off x="793790" y="3145750"/>
            <a:ext cx="64079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Show the clean startup screen.</a:t>
            </a:r>
            <a:endParaRPr lang="en-US" sz="1750"/>
          </a:p>
        </p:txBody>
      </p:sp>
      <p:sp>
        <p:nvSpPr>
          <p:cNvPr id="199118085" name="Text 6"/>
          <p:cNvSpPr/>
          <p:nvPr/>
        </p:nvSpPr>
        <p:spPr bwMode="auto">
          <a:xfrm>
            <a:off x="7428548" y="212598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 Light"/>
                <a:ea typeface="Gelasio Light"/>
                <a:cs typeface="Gelasio Light"/>
              </a:rPr>
              <a:t>02</a:t>
            </a:r>
            <a:endParaRPr lang="en-US" sz="1750"/>
          </a:p>
        </p:txBody>
      </p:sp>
      <p:sp>
        <p:nvSpPr>
          <p:cNvPr id="1374225338" name="Shape 7"/>
          <p:cNvSpPr/>
          <p:nvPr/>
        </p:nvSpPr>
        <p:spPr bwMode="auto">
          <a:xfrm>
            <a:off x="7428548" y="2481024"/>
            <a:ext cx="6408062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33647637" name="Text 8"/>
          <p:cNvSpPr/>
          <p:nvPr/>
        </p:nvSpPr>
        <p:spPr bwMode="auto">
          <a:xfrm>
            <a:off x="7428548" y="2655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Select Folder:</a:t>
            </a:r>
            <a:endParaRPr lang="en-US" sz="2200"/>
          </a:p>
        </p:txBody>
      </p:sp>
      <p:sp>
        <p:nvSpPr>
          <p:cNvPr id="465595824" name="Text 9"/>
          <p:cNvSpPr/>
          <p:nvPr/>
        </p:nvSpPr>
        <p:spPr bwMode="auto">
          <a:xfrm>
            <a:off x="7428548" y="3145750"/>
            <a:ext cx="64080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Pick the large "Dataset" folder.</a:t>
            </a:r>
            <a:endParaRPr lang="en-US" sz="1750"/>
          </a:p>
        </p:txBody>
      </p:sp>
      <p:sp>
        <p:nvSpPr>
          <p:cNvPr id="2026328489" name="Text 10"/>
          <p:cNvSpPr/>
          <p:nvPr/>
        </p:nvSpPr>
        <p:spPr bwMode="auto">
          <a:xfrm>
            <a:off x="793790" y="390548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 Light"/>
                <a:ea typeface="Gelasio Light"/>
                <a:cs typeface="Gelasio Light"/>
              </a:rPr>
              <a:t>03</a:t>
            </a:r>
            <a:endParaRPr lang="en-US" sz="1750"/>
          </a:p>
        </p:txBody>
      </p:sp>
      <p:sp>
        <p:nvSpPr>
          <p:cNvPr id="1788991513" name="Shape 11"/>
          <p:cNvSpPr/>
          <p:nvPr/>
        </p:nvSpPr>
        <p:spPr bwMode="auto">
          <a:xfrm>
            <a:off x="793790" y="4260533"/>
            <a:ext cx="6407943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532294334" name="Text 12"/>
          <p:cNvSpPr/>
          <p:nvPr/>
        </p:nvSpPr>
        <p:spPr bwMode="auto">
          <a:xfrm>
            <a:off x="793790" y="44348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Browser Mode:</a:t>
            </a:r>
            <a:endParaRPr lang="en-US" sz="2200"/>
          </a:p>
        </p:txBody>
      </p:sp>
      <p:sp>
        <p:nvSpPr>
          <p:cNvPr id="1460229417" name="Text 13"/>
          <p:cNvSpPr/>
          <p:nvPr/>
        </p:nvSpPr>
        <p:spPr bwMode="auto">
          <a:xfrm>
            <a:off x="793790" y="4925258"/>
            <a:ext cx="64079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Show navigating the folder tree like a normal Explorer.</a:t>
            </a:r>
            <a:endParaRPr lang="en-US" sz="1750"/>
          </a:p>
        </p:txBody>
      </p:sp>
      <p:sp>
        <p:nvSpPr>
          <p:cNvPr id="1120336685" name="Text 14"/>
          <p:cNvSpPr/>
          <p:nvPr/>
        </p:nvSpPr>
        <p:spPr bwMode="auto">
          <a:xfrm>
            <a:off x="7428548" y="390548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 Light"/>
                <a:ea typeface="Gelasio Light"/>
                <a:cs typeface="Gelasio Light"/>
              </a:rPr>
              <a:t>04</a:t>
            </a:r>
            <a:endParaRPr lang="en-US" sz="1750"/>
          </a:p>
        </p:txBody>
      </p:sp>
      <p:sp>
        <p:nvSpPr>
          <p:cNvPr id="727750587" name="Shape 15"/>
          <p:cNvSpPr/>
          <p:nvPr/>
        </p:nvSpPr>
        <p:spPr bwMode="auto">
          <a:xfrm>
            <a:off x="7428548" y="4260533"/>
            <a:ext cx="6408062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83994869" name="Text 16"/>
          <p:cNvSpPr/>
          <p:nvPr/>
        </p:nvSpPr>
        <p:spPr bwMode="auto">
          <a:xfrm>
            <a:off x="7428548" y="44348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Indexing:</a:t>
            </a:r>
            <a:endParaRPr lang="en-US" sz="2200"/>
          </a:p>
        </p:txBody>
      </p:sp>
      <p:sp>
        <p:nvSpPr>
          <p:cNvPr id="1019948828" name="Text 17"/>
          <p:cNvSpPr/>
          <p:nvPr/>
        </p:nvSpPr>
        <p:spPr bwMode="auto">
          <a:xfrm>
            <a:off x="7428548" y="4925258"/>
            <a:ext cx="64080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Point out the progress bar working in the background.</a:t>
            </a:r>
            <a:endParaRPr lang="en-US" sz="1750"/>
          </a:p>
        </p:txBody>
      </p:sp>
      <p:sp>
        <p:nvSpPr>
          <p:cNvPr id="243138097" name="Text 18"/>
          <p:cNvSpPr/>
          <p:nvPr/>
        </p:nvSpPr>
        <p:spPr bwMode="auto">
          <a:xfrm>
            <a:off x="793790" y="568499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 Light"/>
                <a:ea typeface="Gelasio Light"/>
                <a:cs typeface="Gelasio Light"/>
              </a:rPr>
              <a:t>05</a:t>
            </a:r>
            <a:endParaRPr lang="en-US" sz="1750"/>
          </a:p>
        </p:txBody>
      </p:sp>
      <p:sp>
        <p:nvSpPr>
          <p:cNvPr id="510138066" name="Shape 19"/>
          <p:cNvSpPr/>
          <p:nvPr/>
        </p:nvSpPr>
        <p:spPr bwMode="auto">
          <a:xfrm>
            <a:off x="793790" y="6040041"/>
            <a:ext cx="6407943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096509330" name="Text 20"/>
          <p:cNvSpPr/>
          <p:nvPr/>
        </p:nvSpPr>
        <p:spPr bwMode="auto">
          <a:xfrm>
            <a:off x="793790" y="6214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Search:</a:t>
            </a:r>
            <a:endParaRPr lang="en-US" sz="2200"/>
          </a:p>
        </p:txBody>
      </p:sp>
      <p:sp>
        <p:nvSpPr>
          <p:cNvPr id="1709527937" name="Text 21"/>
          <p:cNvSpPr/>
          <p:nvPr/>
        </p:nvSpPr>
        <p:spPr bwMode="auto">
          <a:xfrm>
            <a:off x="793790" y="6704767"/>
            <a:ext cx="64079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Type a query (e.g., "rep") and show the instant switch to the Result List.</a:t>
            </a:r>
            <a:endParaRPr lang="en-US" sz="1750"/>
          </a:p>
        </p:txBody>
      </p:sp>
      <p:sp>
        <p:nvSpPr>
          <p:cNvPr id="1100209371" name="Text 22"/>
          <p:cNvSpPr/>
          <p:nvPr/>
        </p:nvSpPr>
        <p:spPr bwMode="auto">
          <a:xfrm>
            <a:off x="7428548" y="568499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 Light"/>
                <a:ea typeface="Gelasio Light"/>
                <a:cs typeface="Gelasio Light"/>
              </a:rPr>
              <a:t>06</a:t>
            </a:r>
            <a:endParaRPr lang="en-US" sz="1750"/>
          </a:p>
        </p:txBody>
      </p:sp>
      <p:sp>
        <p:nvSpPr>
          <p:cNvPr id="1954491011" name="Shape 23"/>
          <p:cNvSpPr/>
          <p:nvPr/>
        </p:nvSpPr>
        <p:spPr bwMode="auto">
          <a:xfrm>
            <a:off x="7428548" y="6040041"/>
            <a:ext cx="6408062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60335433" name="Text 24"/>
          <p:cNvSpPr/>
          <p:nvPr/>
        </p:nvSpPr>
        <p:spPr bwMode="auto">
          <a:xfrm>
            <a:off x="7428548" y="6214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</a:rPr>
              <a:t>Context Menu:</a:t>
            </a:r>
            <a:endParaRPr lang="en-US" sz="2200"/>
          </a:p>
        </p:txBody>
      </p:sp>
      <p:sp>
        <p:nvSpPr>
          <p:cNvPr id="373582107" name="Text 25"/>
          <p:cNvSpPr/>
          <p:nvPr/>
        </p:nvSpPr>
        <p:spPr bwMode="auto">
          <a:xfrm>
            <a:off x="7428548" y="6704767"/>
            <a:ext cx="64080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Right-click a file and choose "Reveal in Finder".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334431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166628889" name="Text 0"/>
          <p:cNvSpPr/>
          <p:nvPr/>
        </p:nvSpPr>
        <p:spPr bwMode="auto">
          <a:xfrm>
            <a:off x="6280190" y="2564011"/>
            <a:ext cx="372260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D3C5B6"/>
                </a:solidFill>
                <a:latin typeface="Gelasio Semi Bold"/>
                <a:ea typeface="Gelasio Semi Bold"/>
                <a:cs typeface="Gelasio Semi Bold"/>
              </a:rPr>
              <a:t>Future Enhancements</a:t>
            </a:r>
            <a:endParaRPr lang="en-US" sz="2650"/>
          </a:p>
        </p:txBody>
      </p:sp>
      <p:sp>
        <p:nvSpPr>
          <p:cNvPr id="1829593993" name="Text 1"/>
          <p:cNvSpPr/>
          <p:nvPr/>
        </p:nvSpPr>
        <p:spPr bwMode="auto">
          <a:xfrm>
            <a:off x="6280190" y="332946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Content Indexing: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Extend the crawler to read the </a:t>
            </a:r>
            <a:r>
              <a:rPr lang="en-US" sz="1750" i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inside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of PDF/TXT files using libraries like PyPDF2.</a:t>
            </a:r>
            <a:endParaRPr lang="en-US" sz="1750"/>
          </a:p>
        </p:txBody>
      </p:sp>
      <p:sp>
        <p:nvSpPr>
          <p:cNvPr id="77492983" name="Text 2"/>
          <p:cNvSpPr/>
          <p:nvPr/>
        </p:nvSpPr>
        <p:spPr bwMode="auto">
          <a:xfrm>
            <a:off x="6280190" y="413456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Persistent Storage: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Save the Inverted Index to disk (JSON/Pickle) so the user doesn't have to re-index on every launch.</a:t>
            </a:r>
            <a:endParaRPr lang="en-US" sz="1750"/>
          </a:p>
        </p:txBody>
      </p:sp>
      <p:sp>
        <p:nvSpPr>
          <p:cNvPr id="1451954958" name="Text 3"/>
          <p:cNvSpPr/>
          <p:nvPr/>
        </p:nvSpPr>
        <p:spPr bwMode="auto">
          <a:xfrm>
            <a:off x="6280190" y="493966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File Watching: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Use watchdog observers to update the index automatically when files are created or deleted.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26758" name="Text 0"/>
          <p:cNvSpPr/>
          <p:nvPr/>
        </p:nvSpPr>
        <p:spPr bwMode="auto">
          <a:xfrm>
            <a:off x="793790" y="243923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D3C5B6"/>
                </a:solidFill>
                <a:latin typeface="Gelasio Semi Bold"/>
                <a:ea typeface="Gelasio Semi Bold"/>
                <a:cs typeface="Gelasio Semi Bold"/>
              </a:rPr>
              <a:t>Conclusion</a:t>
            </a:r>
            <a:endParaRPr lang="en-US" sz="2650"/>
          </a:p>
        </p:txBody>
      </p:sp>
      <p:sp>
        <p:nvSpPr>
          <p:cNvPr id="380219926" name="Text 1"/>
          <p:cNvSpPr/>
          <p:nvPr/>
        </p:nvSpPr>
        <p:spPr bwMode="auto">
          <a:xfrm>
            <a:off x="1133951" y="3573304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We successfully built a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High-Performance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,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IR-Based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search tool.</a:t>
            </a:r>
            <a:endParaRPr lang="en-US" sz="1750"/>
          </a:p>
        </p:txBody>
      </p:sp>
      <p:sp>
        <p:nvSpPr>
          <p:cNvPr id="1853598266" name="Text 2"/>
          <p:cNvSpPr/>
          <p:nvPr/>
        </p:nvSpPr>
        <p:spPr bwMode="auto">
          <a:xfrm>
            <a:off x="1133951" y="4191357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We moved beyond simple scripting to a robust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MVC Architecture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.</a:t>
            </a:r>
            <a:endParaRPr lang="en-US" sz="1750"/>
          </a:p>
        </p:txBody>
      </p:sp>
      <p:sp>
        <p:nvSpPr>
          <p:cNvPr id="1247583339" name="Text 3"/>
          <p:cNvSpPr/>
          <p:nvPr/>
        </p:nvSpPr>
        <p:spPr bwMode="auto">
          <a:xfrm>
            <a:off x="1133951" y="4809411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We solved real-world usability problems (Freezing, Cross-Platform UI) while maintaining the theoretical rigor of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Boolean Retrieval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and </a:t>
            </a:r>
            <a:r>
              <a:rPr lang="en-US" sz="1750" b="1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Inverted Indexing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.</a:t>
            </a:r>
            <a:endParaRPr lang="en-US" sz="1750"/>
          </a:p>
        </p:txBody>
      </p:sp>
      <p:sp>
        <p:nvSpPr>
          <p:cNvPr id="58121901" name="Shape 4"/>
          <p:cNvSpPr/>
          <p:nvPr/>
        </p:nvSpPr>
        <p:spPr bwMode="auto">
          <a:xfrm>
            <a:off x="793790" y="3318153"/>
            <a:ext cx="30480" cy="2472214"/>
          </a:xfrm>
          <a:prstGeom prst="rect">
            <a:avLst/>
          </a:prstGeom>
          <a:solidFill>
            <a:srgbClr val="D3C5B6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195790" name="Text 0"/>
          <p:cNvSpPr/>
          <p:nvPr/>
        </p:nvSpPr>
        <p:spPr bwMode="auto">
          <a:xfrm>
            <a:off x="793790" y="30913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D3C5B6"/>
                </a:solidFill>
                <a:latin typeface="Gelasio Semi Bold"/>
                <a:ea typeface="Gelasio Semi Bold"/>
                <a:cs typeface="Gelasio Semi Bold"/>
              </a:rPr>
              <a:t>Resources</a:t>
            </a:r>
            <a:endParaRPr lang="en-US" sz="2650"/>
          </a:p>
        </p:txBody>
      </p:sp>
      <p:sp>
        <p:nvSpPr>
          <p:cNvPr id="118343038" name="Text 1"/>
          <p:cNvSpPr/>
          <p:nvPr/>
        </p:nvSpPr>
        <p:spPr bwMode="auto">
          <a:xfrm>
            <a:off x="793790" y="39702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Github link [ </a:t>
            </a:r>
            <a:r>
              <a:rPr lang="en-US" sz="1750" u="sng">
                <a:solidFill>
                  <a:srgbClr val="7F674D"/>
                </a:solidFill>
                <a:latin typeface="Gelasio"/>
                <a:ea typeface="Gelasio"/>
                <a:cs typeface="Gelasio"/>
                <a:hlinkClick r:id="rId3" tooltip=""/>
              </a:rPr>
              <a:t>https://github.com/EbadJunaid/Fast-file-search-tool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]</a:t>
            </a:r>
            <a:endParaRPr lang="en-US" sz="1750"/>
          </a:p>
        </p:txBody>
      </p:sp>
      <p:sp>
        <p:nvSpPr>
          <p:cNvPr id="1181913039" name="Text 2"/>
          <p:cNvSpPr/>
          <p:nvPr/>
        </p:nvSpPr>
        <p:spPr bwMode="auto">
          <a:xfrm>
            <a:off x="793790" y="441245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Recording link [ </a:t>
            </a:r>
            <a:r>
              <a:rPr lang="en-US" sz="1750" u="sng">
                <a:solidFill>
                  <a:srgbClr val="7F674D"/>
                </a:solidFill>
                <a:latin typeface="Gelasio"/>
                <a:ea typeface="Gelasio"/>
                <a:cs typeface="Gelasio"/>
                <a:hlinkClick r:id="rId4" tooltip=""/>
              </a:rPr>
              <a:t>https://drive.google.com/drive/folders/1TwvQ0oXWFnkvZXPAOkPVbjp8jbGAwLgu?usp=drive_link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</a:rPr>
              <a:t> ]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2025-12-11T04:59:52Z</dcterms:modified>
</cp:coreProperties>
</file>